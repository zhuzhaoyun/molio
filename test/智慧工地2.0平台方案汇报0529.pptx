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</a:t>
            </a:r>
            <a:endParaRPr lang="zh-CN" dirty="0"/>
          </a:p>
          <a:p>
            <a:endParaRPr lang="zh-CN" dirty="0"/>
          </a:p>
          <a:p>
            <a:r>
              <a:rPr lang="zh-CN" dirty="0"/>
              <a:t>各位领导好，今天向大家汇报智慧工地2.0建设方案。本方案核心定位"数据驱动现场、智能辅助决策"。我们经历了多维度调研、五大场景验证，现在形成了完整的建设蓝图和分批实施路径。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汇报目录</a:t>
            </a:r>
            <a:endParaRPr lang="zh-CN" dirty="0"/>
          </a:p>
          <a:p>
            <a:endParaRPr lang="zh-CN" dirty="0"/>
          </a:p>
          <a:p>
            <a:r>
              <a:rPr lang="zh-CN" dirty="0"/>
              <a:t>今天的汇报分三个部分：第一部分，现状诊断与蓝图定位，我们从调研发现的痛点切入，展示整体架构思考；第二部分，五大场景深挖，这是本次汇报的核心，逐一展示进度管理、质量安全、工程档案、海外物流、数字孪生五大场景的建设前后对比；第三部分，实施路径，明确2026年以智慧移动端为主线的分批推进计划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ppt/media/01-&#25293;&#29031;&#21363;&#24402;&#26723;.mp4" TargetMode="Externa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ppt/media/02-&#24320;&#21475;&#21363;&#26597;&#35810;.mp4" TargetMode="Externa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ppt/media/03-&#39118;&#38505;&#33258;&#21160;&#39044;&#35686;.mp4" TargetMode="External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ppt/media/04-&#30005;&#33041;&#31471;&#24402;&#26723;.mp4" TargetMode="External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ppt/media/05-&#25163;&#26426;&#31471;&#26597;&#35810;.mp4" TargetMode="External"/><Relationship Id="rId3" Type="http://schemas.microsoft.com/office/2007/relationships/media" Target="../media/media5.mp4"/><Relationship Id="rId2" Type="http://schemas.openxmlformats.org/officeDocument/2006/relationships/video" Target="../media/media5.mp4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ppt/media/06-&#25968;&#25454;&#27969;&#20851;&#31995;.mp4" TargetMode="External"/><Relationship Id="rId3" Type="http://schemas.microsoft.com/office/2007/relationships/media" Target="../media/media6.mp4"/><Relationship Id="rId2" Type="http://schemas.openxmlformats.org/officeDocument/2006/relationships/video" Target="../media/media6.mp4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75" b="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"/>
            <a:ext cx="2095500" cy="285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78855" y="24260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0C4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中国海诚工程科技股份有限公司</a:t>
            </a:r>
            <a:endParaRPr lang="zh-CN" sz="1350" dirty="0">
              <a:solidFill>
                <a:srgbClr val="B0C4D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38850" y="2990850"/>
            <a:ext cx="718768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智慧工地 2.0 建设方案</a:t>
            </a:r>
            <a:endParaRPr lang="zh-CN" sz="4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73140" y="3758565"/>
            <a:ext cx="350272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B0C4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数据驱动现场 · 智能辅助决策</a:t>
            </a:r>
            <a:endParaRPr lang="zh-CN" sz="1800" dirty="0">
              <a:solidFill>
                <a:srgbClr val="B0C4D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6096000" y="4191000"/>
            <a:ext cx="76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121"/>
              </a:gs>
              <a:gs pos="100000">
                <a:srgbClr val="E94057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78855" y="4569142"/>
            <a:ext cx="9708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2026年5月</a:t>
            </a:r>
            <a:endParaRPr lang="zh-CN" sz="13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047283" y="918210"/>
            <a:ext cx="2097434" cy="767715"/>
            <a:chOff x="5047283" y="918210"/>
            <a:chExt cx="2097434" cy="767715"/>
          </a:xfrm>
        </p:grpSpPr>
        <p:sp>
          <p:nvSpPr>
            <p:cNvPr id="4" name="TextBox 4"/>
            <p:cNvSpPr txBox="1"/>
            <p:nvPr/>
          </p:nvSpPr>
          <p:spPr>
            <a:xfrm>
              <a:off x="5677662" y="918210"/>
              <a:ext cx="8366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CONTENTS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047283" y="1137285"/>
              <a:ext cx="209743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 报 目 录</a:t>
              </a:r>
              <a:endParaRPr lang="zh-CN" sz="27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5810250" y="1571625"/>
              <a:ext cx="571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27121"/>
                </a:gs>
                <a:gs pos="100000">
                  <a:srgbClr val="E94057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333500" y="2095500"/>
            <a:ext cx="2857500" cy="3429000"/>
            <a:chOff x="1333500" y="2095500"/>
            <a:chExt cx="2857500" cy="3429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2857500" cy="3429000"/>
            </a:xfrm>
            <a:prstGeom prst="roundRect">
              <a:avLst>
                <a:gd name="adj" fmla="val 4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2095500"/>
              <a:ext cx="2857500" cy="3429000"/>
            </a:xfrm>
            <a:prstGeom prst="roundRect">
              <a:avLst>
                <a:gd name="adj" fmla="val 4000"/>
              </a:avLst>
            </a:prstGeom>
            <a:noFill/>
            <a:ln w="9525">
              <a:solidFill>
                <a:srgbClr val="D0D8E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341726" y="2274570"/>
              <a:ext cx="84104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F27121"/>
                      </a:gs>
                      <a:gs pos="100000">
                        <a:srgbClr val="E94057"/>
                      </a:gs>
                    </a:gsLst>
                    <a:lin ang="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5400" b="1" dirty="0">
                <a:gradFill>
                  <a:gsLst>
                    <a:gs pos="0">
                      <a:srgbClr val="F27121"/>
                    </a:gs>
                    <a:gs pos="100000">
                      <a:srgbClr val="E94057"/>
                    </a:gs>
                  </a:gsLst>
                  <a:lin ang="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0750" y="3048000"/>
              <a:ext cx="1143000" cy="47625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497235" y="3901440"/>
              <a:ext cx="25300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现状诊断与蓝图定位</a:t>
              </a:r>
              <a:endParaRPr lang="zh-CN" sz="18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45196" y="4347210"/>
              <a:ext cx="16341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痛点分析 · 架构全景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67250" y="2095500"/>
            <a:ext cx="2857500" cy="3429000"/>
            <a:chOff x="4667250" y="2095500"/>
            <a:chExt cx="2857500" cy="3429000"/>
          </a:xfrm>
        </p:grpSpPr>
        <p:sp>
          <p:nvSpPr>
            <p:cNvPr id="15" name="Rectangle 15"/>
            <p:cNvSpPr/>
            <p:nvPr/>
          </p:nvSpPr>
          <p:spPr>
            <a:xfrm>
              <a:off x="4667250" y="2095500"/>
              <a:ext cx="2857500" cy="3429000"/>
            </a:xfrm>
            <a:prstGeom prst="roundRect">
              <a:avLst>
                <a:gd name="adj" fmla="val 4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67250" y="2095500"/>
              <a:ext cx="2857500" cy="3429000"/>
            </a:xfrm>
            <a:prstGeom prst="roundRect">
              <a:avLst>
                <a:gd name="adj" fmla="val 4000"/>
              </a:avLst>
            </a:prstGeom>
            <a:noFill/>
            <a:ln w="9525">
              <a:solidFill>
                <a:srgbClr val="D0D8E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71963" y="2274570"/>
              <a:ext cx="104807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F27121"/>
                      </a:gs>
                      <a:gs pos="100000">
                        <a:srgbClr val="E94057"/>
                      </a:gs>
                    </a:gsLst>
                    <a:lin ang="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5400" b="1" dirty="0">
                <a:gradFill>
                  <a:gsLst>
                    <a:gs pos="0">
                      <a:srgbClr val="F27121"/>
                    </a:gs>
                    <a:gs pos="100000">
                      <a:srgbClr val="E94057"/>
                    </a:gs>
                  </a:gsLst>
                  <a:lin ang="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4500" y="3048000"/>
              <a:ext cx="1143000" cy="476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5245036" y="39014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五大场景深挖</a:t>
              </a:r>
              <a:endParaRPr lang="zh-CN" sz="18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77396" y="4347210"/>
              <a:ext cx="20372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进度 · 质量 · 档案 · 物流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001000" y="2095500"/>
            <a:ext cx="2857500" cy="3429000"/>
            <a:chOff x="8001000" y="2095500"/>
            <a:chExt cx="28575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8001000" y="2095500"/>
              <a:ext cx="2857500" cy="3429000"/>
            </a:xfrm>
            <a:prstGeom prst="roundRect">
              <a:avLst>
                <a:gd name="adj" fmla="val 4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01000" y="2095500"/>
              <a:ext cx="2857500" cy="3429000"/>
            </a:xfrm>
            <a:prstGeom prst="roundRect">
              <a:avLst>
                <a:gd name="adj" fmla="val 4000"/>
              </a:avLst>
            </a:prstGeom>
            <a:noFill/>
            <a:ln w="9525">
              <a:solidFill>
                <a:srgbClr val="D0D8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05713" y="2274570"/>
              <a:ext cx="104807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F27121"/>
                      </a:gs>
                      <a:gs pos="100000">
                        <a:srgbClr val="E94057"/>
                      </a:gs>
                    </a:gsLst>
                    <a:lin ang="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5400" b="1" dirty="0">
                <a:gradFill>
                  <a:gsLst>
                    <a:gs pos="0">
                      <a:srgbClr val="F27121"/>
                    </a:gs>
                    <a:gs pos="100000">
                      <a:srgbClr val="E94057"/>
                    </a:gs>
                  </a:gsLst>
                  <a:lin ang="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3048000"/>
              <a:ext cx="1143000" cy="47625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8854821" y="39014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实施路径</a:t>
              </a:r>
              <a:endParaRPr lang="zh-CN" sz="18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83574" y="4347210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2026智慧移动端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14" grpId="0"/>
      <p:bldP spid="21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56" b="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"/>
            <a:ext cx="2095500" cy="285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12470" y="1293495"/>
            <a:ext cx="548173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现状诊断与蓝图定位</a:t>
            </a:r>
            <a:endParaRPr lang="zh-CN" sz="3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905000"/>
            <a:ext cx="571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121"/>
              </a:gs>
              <a:gs pos="100000">
                <a:srgbClr val="E94057"/>
              </a:gs>
            </a:gsLst>
            <a:lin ang="0" scaled="1"/>
          </a:gra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66775" y="2533650"/>
            <a:ext cx="76200" cy="76200"/>
          </a:xfrm>
          <a:prstGeom prst="ellipse">
            <a:avLst/>
          </a:prstGeom>
          <a:solidFill>
            <a:srgbClr val="F2712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78230" y="248316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三大痛点：数据失真、知识流失、协同低效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Ellipse 8"/>
          <p:cNvSpPr/>
          <p:nvPr/>
        </p:nvSpPr>
        <p:spPr>
          <a:xfrm>
            <a:off x="866775" y="3390900"/>
            <a:ext cx="76200" cy="76200"/>
          </a:xfrm>
          <a:prstGeom prst="ellipse">
            <a:avLst/>
          </a:prstGeom>
          <a:solidFill>
            <a:srgbClr val="F2712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8230" y="3340418"/>
            <a:ext cx="41057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面向EPC的平台架构：全流程、全要素、智能化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Ellipse 10"/>
          <p:cNvSpPr/>
          <p:nvPr/>
        </p:nvSpPr>
        <p:spPr>
          <a:xfrm>
            <a:off x="866775" y="4248150"/>
            <a:ext cx="76200" cy="76200"/>
          </a:xfrm>
          <a:prstGeom prst="ellipse">
            <a:avLst/>
          </a:prstGeom>
          <a:solidFill>
            <a:srgbClr val="F2712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8230" y="4197668"/>
            <a:ext cx="5949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系统定位：聚焦项目现场，注重移动端体验，补全现场数据采集缺口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8230" y="446436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打通数据链路，从源头保证数据真实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071777" y="2266950"/>
            <a:ext cx="1401747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Mod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9000" b="1" dirty="0">
              <a:solidFill>
                <a:srgbClr val="FFFFFF">
                  <a:alphaMod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4996982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项目运营数字化管理现状痛点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523875" y="1476375"/>
            <a:ext cx="3524250" cy="2286000"/>
            <a:chOff x="523875" y="1476375"/>
            <a:chExt cx="3524250" cy="2286000"/>
          </a:xfrm>
        </p:grpSpPr>
        <p:sp>
          <p:nvSpPr>
            <p:cNvPr id="6" name="Rectangle 6"/>
            <p:cNvSpPr/>
            <p:nvPr/>
          </p:nvSpPr>
          <p:spPr>
            <a:xfrm>
              <a:off x="523875" y="1476375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5F7F9"/>
            </a:solidFill>
            <a:ln w="9525">
              <a:solidFill>
                <a:srgbClr val="E8EAED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000250" y="1714500"/>
              <a:ext cx="571500" cy="571500"/>
            </a:xfrm>
            <a:prstGeom prst="ellipse">
              <a:avLst/>
            </a:prstGeom>
            <a:solidFill>
              <a:srgbClr val="1A3A7A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21735" y="1882140"/>
              <a:ext cx="1285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8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1821" y="2362200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上下游数据缺乏联动</a:t>
              </a:r>
              <a:endParaRPr lang="zh-CN" sz="15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809625" y="26860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2010" y="282321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业务链条连接不畅，难以形成连续、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061335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真实、及时的业务数据流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3299460"/>
              <a:ext cx="27294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智慧工地1.0主要承担基础数据展示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33875" y="1476375"/>
            <a:ext cx="3524250" cy="2286000"/>
            <a:chOff x="4333875" y="1476375"/>
            <a:chExt cx="3524250" cy="2286000"/>
          </a:xfrm>
        </p:grpSpPr>
        <p:sp>
          <p:nvSpPr>
            <p:cNvPr id="15" name="Rectangle 15"/>
            <p:cNvSpPr/>
            <p:nvPr/>
          </p:nvSpPr>
          <p:spPr>
            <a:xfrm>
              <a:off x="4333875" y="1476375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5F7F9"/>
            </a:solidFill>
            <a:ln w="9525">
              <a:solidFill>
                <a:srgbClr val="E8EAED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810250" y="1714500"/>
              <a:ext cx="571500" cy="571500"/>
            </a:xfrm>
            <a:prstGeom prst="ellipse">
              <a:avLst/>
            </a:prstGeom>
            <a:solidFill>
              <a:srgbClr val="607D8B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97231" y="188214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07D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8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86864" y="23622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管理洞察缺失</a:t>
              </a:r>
              <a:endParaRPr lang="zh-CN" sz="15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4619625" y="26860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52010" y="282321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缺乏面向项目管理的风险识别、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2010" y="3061335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综合洞察与智能分析能力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2010" y="329946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看板数据与现场实际脱节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43875" y="1476375"/>
            <a:ext cx="3524250" cy="2286000"/>
            <a:chOff x="8143875" y="1476375"/>
            <a:chExt cx="3524250" cy="2286000"/>
          </a:xfrm>
        </p:grpSpPr>
        <p:sp>
          <p:nvSpPr>
            <p:cNvPr id="24" name="Rectangle 24"/>
            <p:cNvSpPr/>
            <p:nvPr/>
          </p:nvSpPr>
          <p:spPr>
            <a:xfrm>
              <a:off x="8143875" y="1476375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5F7F9"/>
            </a:solidFill>
            <a:ln w="9525">
              <a:solidFill>
                <a:srgbClr val="E8EAED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620250" y="1714500"/>
              <a:ext cx="571500" cy="571500"/>
            </a:xfrm>
            <a:prstGeom prst="ellipse">
              <a:avLst/>
            </a:prstGeom>
            <a:solidFill>
              <a:srgbClr val="607D8B">
                <a:alpha val="1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07231" y="188214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07D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8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96864" y="23622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终端应用瓶颈</a:t>
              </a:r>
              <a:endParaRPr lang="zh-CN" sz="15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8429625" y="26860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62010" y="282321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缺乏面向现场的在线化流转，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62010" y="3061335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移动端能力明显不足，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62010" y="329946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影响填报意愿与反馈时效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Rectangle 33"/>
          <p:cNvSpPr/>
          <p:nvPr/>
        </p:nvSpPr>
        <p:spPr>
          <a:xfrm>
            <a:off x="523875" y="4095750"/>
            <a:ext cx="11144250" cy="571500"/>
          </a:xfrm>
          <a:prstGeom prst="roundRect">
            <a:avLst>
              <a:gd name="adj" fmla="val 13333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976688" y="4295775"/>
            <a:ext cx="8238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核心诊断：从「静态记录平台」向「动态赋能中心」转型，是2.0建设的核心方向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Line 35"/>
          <p:cNvSpPr/>
          <p:nvPr/>
        </p:nvSpPr>
        <p:spPr>
          <a:xfrm>
            <a:off x="523875" y="4953000"/>
            <a:ext cx="10620375" cy="9525"/>
          </a:xfrm>
          <a:custGeom>
            <a:avLst/>
            <a:gdLst/>
            <a:ahLst/>
            <a:cxnLst/>
            <a:rect l="l" t="t" r="r" b="b"/>
            <a:pathLst>
              <a:path w="10620375" h="9525">
                <a:moveTo>
                  <a:pt x="0" y="0"/>
                </a:moveTo>
                <a:lnTo>
                  <a:pt x="10620375" y="0"/>
                </a:lnTo>
              </a:path>
            </a:pathLst>
          </a:custGeom>
          <a:noFill/>
          <a:ln w="9525">
            <a:solidFill>
              <a:srgbClr val="E8EAE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106555" y="5188268"/>
            <a:ext cx="59788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现场真实数据 → 无感采集 → 数据中台 → 驾驶舱/预警 → 各层按需消费</a:t>
            </a:r>
            <a:endParaRPr lang="zh-CN" sz="13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325344" y="6546056"/>
            <a:ext cx="1189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234015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建设蓝图全景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33500"/>
            <a:ext cx="11144250" cy="904875"/>
          </a:xfrm>
          <a:prstGeom prst="roundRect">
            <a:avLst>
              <a:gd name="adj" fmla="val 12632"/>
            </a:avLst>
          </a:prstGeom>
          <a:solidFill>
            <a:srgbClr val="F5F7F9"/>
          </a:solidFill>
          <a:ln w="14288">
            <a:solidFill>
              <a:srgbClr val="1A3A7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97230" y="1444942"/>
            <a:ext cx="56860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EPC 业务主线 — 管理生产要素「人·机·料·法·环」全生命周期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523875" y="1743075"/>
            <a:ext cx="11049000" cy="366713"/>
            <a:chOff x="523875" y="1743075"/>
            <a:chExt cx="11049000" cy="366713"/>
          </a:xfrm>
        </p:grpSpPr>
        <p:sp>
          <p:nvSpPr>
            <p:cNvPr id="8" name="Rectangle 8"/>
            <p:cNvSpPr/>
            <p:nvPr/>
          </p:nvSpPr>
          <p:spPr>
            <a:xfrm>
              <a:off x="523875" y="1743075"/>
              <a:ext cx="1666875" cy="361950"/>
            </a:xfrm>
            <a:prstGeom prst="roundRect">
              <a:avLst>
                <a:gd name="adj" fmla="val 50000"/>
              </a:avLst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95325" y="1809750"/>
              <a:ext cx="228600" cy="2286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33425" y="1847850"/>
              <a:ext cx="152400" cy="152400"/>
              <a:chOff x="733425" y="1847850"/>
              <a:chExt cx="152400" cy="1524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33425" y="1847850"/>
                <a:ext cx="152400" cy="152400"/>
              </a:xfrm>
              <a:prstGeom prst="ellipse">
                <a:avLst/>
              </a:prstGeom>
              <a:noFill/>
              <a:ln w="14288" cap="rnd">
                <a:solidFill>
                  <a:srgbClr val="FFFFFF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804862" y="1881188"/>
                <a:ext cx="47625" cy="47625"/>
              </a:xfrm>
              <a:prstGeom prst="ellipse">
                <a:avLst/>
              </a:prstGeom>
              <a:solidFill>
                <a:srgbClr val="FFFFFF"/>
              </a:solidFill>
              <a:ln w="14288" cap="rnd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03935" y="18516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30755" y="1835468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350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00300" y="1743075"/>
              <a:ext cx="1666875" cy="361950"/>
            </a:xfrm>
            <a:prstGeom prst="roundRect">
              <a:avLst>
                <a:gd name="adj" fmla="val 50000"/>
              </a:avLst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571750" y="1809750"/>
              <a:ext cx="228600" cy="2286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619375" y="1847850"/>
              <a:ext cx="133350" cy="142875"/>
              <a:chOff x="2619375" y="1847850"/>
              <a:chExt cx="133350" cy="14287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619375" y="1895475"/>
                <a:ext cx="133350" cy="95250"/>
              </a:xfrm>
              <a:prstGeom prst="rect">
                <a:avLst/>
              </a:prstGeom>
              <a:noFill/>
              <a:ln w="14288" cap="rnd">
                <a:solidFill>
                  <a:srgbClr val="FFFFFF"/>
                </a:solidFill>
              </a:ln>
            </p:spPr>
          </p:sp>
          <p:sp>
            <p:nvSpPr>
              <p:cNvPr id="18" name="Polygon 18"/>
              <p:cNvSpPr/>
              <p:nvPr/>
            </p:nvSpPr>
            <p:spPr>
              <a:xfrm>
                <a:off x="2619375" y="1847850"/>
                <a:ext cx="1333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7625">
                    <a:moveTo>
                      <a:pt x="0" y="47625"/>
                    </a:moveTo>
                    <a:lnTo>
                      <a:pt x="66675" y="0"/>
                    </a:lnTo>
                    <a:lnTo>
                      <a:pt x="133350" y="47625"/>
                    </a:lnTo>
                    <a:close/>
                  </a:path>
                </a:pathLst>
              </a:custGeom>
              <a:noFill/>
              <a:ln w="14288" cap="rnd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880360" y="18516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采购与供应链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7180" y="1835468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350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76725" y="1743075"/>
              <a:ext cx="1666875" cy="361950"/>
            </a:xfrm>
            <a:prstGeom prst="roundRect">
              <a:avLst>
                <a:gd name="adj" fmla="val 50000"/>
              </a:avLst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448175" y="1809750"/>
              <a:ext cx="228600" cy="2286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sp>
          <p:nvSpPr>
            <p:cNvPr id="24" name="Polygon 24"/>
            <p:cNvSpPr/>
            <p:nvPr/>
          </p:nvSpPr>
          <p:spPr>
            <a:xfrm>
              <a:off x="4486275" y="18478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0"/>
                  </a:moveTo>
                  <a:lnTo>
                    <a:pt x="152400" y="133350"/>
                  </a:lnTo>
                  <a:lnTo>
                    <a:pt x="0" y="133350"/>
                  </a:lnTo>
                  <a:close/>
                </a:path>
              </a:pathLst>
            </a:custGeom>
            <a:noFill/>
            <a:ln w="14288" cap="rnd">
              <a:solidFill>
                <a:srgbClr val="FFFFFF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56785" y="18516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施工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83605" y="1835468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350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53150" y="1743075"/>
              <a:ext cx="1666875" cy="361950"/>
            </a:xfrm>
            <a:prstGeom prst="roundRect">
              <a:avLst>
                <a:gd name="adj" fmla="val 50000"/>
              </a:avLst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324600" y="1809750"/>
              <a:ext cx="228600" cy="2286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372225" y="1857375"/>
              <a:ext cx="133350" cy="133350"/>
              <a:chOff x="6372225" y="1857375"/>
              <a:chExt cx="133350" cy="13335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6372225" y="1857375"/>
                <a:ext cx="133350" cy="133350"/>
              </a:xfrm>
              <a:prstGeom prst="ellipse">
                <a:avLst/>
              </a:prstGeom>
              <a:noFill/>
              <a:ln w="14288" cap="rnd">
                <a:solidFill>
                  <a:srgbClr val="FFFFFF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438900" y="187642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4288" cap="rnd">
                <a:solidFill>
                  <a:srgbClr val="FFFFFF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6391275" y="19240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4288" cap="rnd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633210" y="1851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调试开车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0030" y="1835468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350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029575" y="1743075"/>
              <a:ext cx="1666875" cy="361950"/>
            </a:xfrm>
            <a:prstGeom prst="roundRect">
              <a:avLst>
                <a:gd name="adj" fmla="val 50000"/>
              </a:avLst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201025" y="1809750"/>
              <a:ext cx="228600" cy="2286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sp>
          <p:nvSpPr>
            <p:cNvPr id="37" name="Polyline 37"/>
            <p:cNvSpPr/>
            <p:nvPr/>
          </p:nvSpPr>
          <p:spPr>
            <a:xfrm>
              <a:off x="8267700" y="1895475"/>
              <a:ext cx="104775" cy="66675"/>
            </a:xfrm>
            <a:custGeom>
              <a:avLst/>
              <a:gdLst/>
              <a:ahLst/>
              <a:cxnLst/>
              <a:rect l="l" t="t" r="r" b="b"/>
              <a:pathLst>
                <a:path w="104775" h="66675">
                  <a:moveTo>
                    <a:pt x="0" y="19050"/>
                  </a:moveTo>
                  <a:lnTo>
                    <a:pt x="38100" y="66675"/>
                  </a:lnTo>
                  <a:lnTo>
                    <a:pt x="10477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09635" y="18516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验收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36455" y="1835468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350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906000" y="1743075"/>
              <a:ext cx="1666875" cy="361950"/>
            </a:xfrm>
            <a:prstGeom prst="roundRect">
              <a:avLst>
                <a:gd name="adj" fmla="val 50000"/>
              </a:avLst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077450" y="1809750"/>
              <a:ext cx="228600" cy="2286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134600" y="1857375"/>
              <a:ext cx="114300" cy="133350"/>
              <a:chOff x="10134600" y="1857375"/>
              <a:chExt cx="114300" cy="133350"/>
            </a:xfrm>
          </p:grpSpPr>
          <p:sp>
            <p:nvSpPr>
              <p:cNvPr id="42" name="Line 42"/>
              <p:cNvSpPr/>
              <p:nvPr/>
            </p:nvSpPr>
            <p:spPr>
              <a:xfrm>
                <a:off x="10134600" y="1857375"/>
                <a:ext cx="95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3350">
                    <a:moveTo>
                      <a:pt x="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4288" cap="rnd">
                <a:solidFill>
                  <a:srgbClr val="FFFFFF"/>
                </a:solidFill>
              </a:ln>
            </p:spPr>
          </p:sp>
          <p:sp>
            <p:nvSpPr>
              <p:cNvPr id="43" name="Polygon 43"/>
              <p:cNvSpPr/>
              <p:nvPr/>
            </p:nvSpPr>
            <p:spPr>
              <a:xfrm>
                <a:off x="10134600" y="1857375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0"/>
                    </a:moveTo>
                    <a:lnTo>
                      <a:pt x="114300" y="28575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386060" y="1851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竣工交付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7" name="Rectangle 47"/>
          <p:cNvSpPr/>
          <p:nvPr/>
        </p:nvSpPr>
        <p:spPr>
          <a:xfrm>
            <a:off x="523875" y="2428875"/>
            <a:ext cx="3619500" cy="29527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950109" y="2540318"/>
            <a:ext cx="2767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生产要素「人·机·料·法·环」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Ellipse 49"/>
          <p:cNvSpPr/>
          <p:nvPr/>
        </p:nvSpPr>
        <p:spPr>
          <a:xfrm>
            <a:off x="1619250" y="3038475"/>
            <a:ext cx="1428750" cy="1428750"/>
          </a:xfrm>
          <a:prstGeom prst="ellipse">
            <a:avLst/>
          </a:prstGeom>
          <a:noFill/>
          <a:ln w="28575">
            <a:solidFill>
              <a:srgbClr val="E8EAED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2124075" y="2828925"/>
            <a:ext cx="419100" cy="419100"/>
          </a:xfrm>
          <a:prstGeom prst="ellipse">
            <a:avLst/>
          </a:prstGeom>
          <a:solidFill>
            <a:srgbClr val="1A3A7A">
              <a:alpha val="12000"/>
            </a:srgbClr>
          </a:solidFill>
          <a:ln w="19050">
            <a:solidFill>
              <a:srgbClr val="1A3A7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2212967" y="2959418"/>
            <a:ext cx="2413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Ellipse 52"/>
          <p:cNvSpPr/>
          <p:nvPr/>
        </p:nvSpPr>
        <p:spPr>
          <a:xfrm>
            <a:off x="2800350" y="3324225"/>
            <a:ext cx="419100" cy="419100"/>
          </a:xfrm>
          <a:prstGeom prst="ellipse">
            <a:avLst/>
          </a:prstGeom>
          <a:solidFill>
            <a:srgbClr val="607D8B">
              <a:alpha val="10000"/>
            </a:srgbClr>
          </a:solidFill>
          <a:ln w="19050">
            <a:solidFill>
              <a:srgbClr val="607D8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2889242" y="3454718"/>
            <a:ext cx="2413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</a:t>
            </a:r>
            <a:endParaRPr lang="zh-CN" sz="135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Ellipse 54"/>
          <p:cNvSpPr/>
          <p:nvPr/>
        </p:nvSpPr>
        <p:spPr>
          <a:xfrm>
            <a:off x="2543175" y="4124325"/>
            <a:ext cx="419100" cy="419100"/>
          </a:xfrm>
          <a:prstGeom prst="ellipse">
            <a:avLst/>
          </a:prstGeom>
          <a:solidFill>
            <a:srgbClr val="607D8B">
              <a:alpha val="10000"/>
            </a:srgbClr>
          </a:solidFill>
          <a:ln w="19050">
            <a:solidFill>
              <a:srgbClr val="607D8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2632067" y="4254818"/>
            <a:ext cx="2413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料</a:t>
            </a:r>
            <a:endParaRPr lang="zh-CN" sz="135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Ellipse 56"/>
          <p:cNvSpPr/>
          <p:nvPr/>
        </p:nvSpPr>
        <p:spPr>
          <a:xfrm>
            <a:off x="1704975" y="4124325"/>
            <a:ext cx="419100" cy="419100"/>
          </a:xfrm>
          <a:prstGeom prst="ellipse">
            <a:avLst/>
          </a:prstGeom>
          <a:solidFill>
            <a:srgbClr val="607D8B">
              <a:alpha val="10000"/>
            </a:srgbClr>
          </a:solidFill>
          <a:ln w="19050">
            <a:solidFill>
              <a:srgbClr val="607D8B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1793867" y="4254818"/>
            <a:ext cx="2413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法</a:t>
            </a:r>
            <a:endParaRPr lang="zh-CN" sz="135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Ellipse 58"/>
          <p:cNvSpPr/>
          <p:nvPr/>
        </p:nvSpPr>
        <p:spPr>
          <a:xfrm>
            <a:off x="1447800" y="3324225"/>
            <a:ext cx="419100" cy="419100"/>
          </a:xfrm>
          <a:prstGeom prst="ellipse">
            <a:avLst/>
          </a:prstGeom>
          <a:solidFill>
            <a:srgbClr val="607D8B">
              <a:alpha val="10000"/>
            </a:srgbClr>
          </a:solidFill>
          <a:ln w="19050">
            <a:solidFill>
              <a:srgbClr val="607D8B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36692" y="3454718"/>
            <a:ext cx="2413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环</a:t>
            </a:r>
            <a:endParaRPr lang="zh-CN" sz="135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Rectangle 60"/>
          <p:cNvSpPr/>
          <p:nvPr/>
        </p:nvSpPr>
        <p:spPr>
          <a:xfrm>
            <a:off x="4333875" y="2428875"/>
            <a:ext cx="3905250" cy="2952750"/>
          </a:xfrm>
          <a:prstGeom prst="roundRect">
            <a:avLst>
              <a:gd name="adj" fmla="val 3226"/>
            </a:avLst>
          </a:prstGeom>
          <a:solidFill>
            <a:srgbClr val="F5F7F9"/>
          </a:solidFill>
          <a:ln w="14288">
            <a:solidFill>
              <a:srgbClr val="94A3B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561290" y="25403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横向护航层</a:t>
            </a:r>
            <a:endParaRPr lang="zh-CN" sz="1350" b="1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5571577" y="27441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保驾护航 · 贯穿全程</a:t>
            </a:r>
            <a:endParaRPr lang="zh-CN" sz="1050" dirty="0">
              <a:solidFill>
                <a:srgbClr val="455A6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0" name="Group 110"/>
          <p:cNvGrpSpPr/>
          <p:nvPr/>
        </p:nvGrpSpPr>
        <p:grpSpPr>
          <a:xfrm>
            <a:off x="4495800" y="3000375"/>
            <a:ext cx="3686556" cy="2143125"/>
            <a:chOff x="4495800" y="3000375"/>
            <a:chExt cx="3686556" cy="2143125"/>
          </a:xfrm>
        </p:grpSpPr>
        <p:sp>
          <p:nvSpPr>
            <p:cNvPr id="63" name="Rectangle 63"/>
            <p:cNvSpPr/>
            <p:nvPr/>
          </p:nvSpPr>
          <p:spPr>
            <a:xfrm>
              <a:off x="4495800" y="3000375"/>
              <a:ext cx="358140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4638675" y="3038475"/>
              <a:ext cx="247650" cy="24765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4705350" y="3086100"/>
              <a:ext cx="114300" cy="133350"/>
              <a:chOff x="4705350" y="3086100"/>
              <a:chExt cx="114300" cy="13335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4705350" y="3086100"/>
                <a:ext cx="114300" cy="133350"/>
              </a:xfrm>
              <a:prstGeom prst="roundRect">
                <a:avLst>
                  <a:gd name="adj" fmla="val 12500"/>
                </a:avLst>
              </a:prstGeom>
              <a:noFill/>
              <a:ln w="12382">
                <a:solidFill>
                  <a:srgbClr val="FFFFFF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4724400" y="3105150"/>
                <a:ext cx="76200" cy="14288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4733925" y="31527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4733925" y="31813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69" name="Line 69"/>
              <p:cNvSpPr/>
              <p:nvPr/>
            </p:nvSpPr>
            <p:spPr>
              <a:xfrm>
                <a:off x="4733925" y="320992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4985385" y="30899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合同管理</a:t>
              </a:r>
              <a:endParaRPr lang="zh-CN" sz="1200" b="1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57010" y="3080385"/>
              <a:ext cx="1353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场景化预警·台账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495800" y="3362325"/>
              <a:ext cx="358140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4638675" y="3400425"/>
              <a:ext cx="247650" cy="24765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4695825" y="3457575"/>
              <a:ext cx="133350" cy="133350"/>
              <a:chOff x="4695825" y="3457575"/>
              <a:chExt cx="133350" cy="133350"/>
            </a:xfrm>
          </p:grpSpPr>
          <p:sp>
            <p:nvSpPr>
              <p:cNvPr id="75" name="Ellipse 75"/>
              <p:cNvSpPr/>
              <p:nvPr/>
            </p:nvSpPr>
            <p:spPr>
              <a:xfrm>
                <a:off x="4695825" y="3457575"/>
                <a:ext cx="133350" cy="133350"/>
              </a:xfrm>
              <a:prstGeom prst="ellipse">
                <a:avLst/>
              </a:prstGeom>
              <a:noFill/>
              <a:ln w="12382">
                <a:solidFill>
                  <a:srgbClr val="FFFFFF"/>
                </a:solidFill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4724400" y="349567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77" name="Line 77"/>
              <p:cNvSpPr/>
              <p:nvPr/>
            </p:nvSpPr>
            <p:spPr>
              <a:xfrm>
                <a:off x="4762500" y="34861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78" name="Line 78"/>
              <p:cNvSpPr/>
              <p:nvPr/>
            </p:nvSpPr>
            <p:spPr>
              <a:xfrm>
                <a:off x="4733925" y="35433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4985385" y="34518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费控</a:t>
              </a:r>
              <a:endParaRPr lang="zh-CN" sz="1200" b="1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57010" y="3442335"/>
              <a:ext cx="16253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资金一览·签证·发票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495800" y="3724275"/>
              <a:ext cx="358140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4638675" y="3762375"/>
              <a:ext cx="247650" cy="24765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4714875" y="381952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47625" y="0"/>
                  </a:moveTo>
                  <a:lnTo>
                    <a:pt x="95250" y="28575"/>
                  </a:lnTo>
                  <a:lnTo>
                    <a:pt x="95250" y="85725"/>
                  </a:lnTo>
                  <a:cubicBezTo>
                    <a:pt x="95250" y="104775"/>
                    <a:pt x="47625" y="133350"/>
                    <a:pt x="47625" y="133350"/>
                  </a:cubicBezTo>
                  <a:cubicBezTo>
                    <a:pt x="47625" y="133350"/>
                    <a:pt x="0" y="104775"/>
                    <a:pt x="0" y="85725"/>
                  </a:cubicBezTo>
                  <a:lnTo>
                    <a:pt x="0" y="28575"/>
                  </a:lnTo>
                  <a:close/>
                </a:path>
              </a:pathLst>
            </a:custGeom>
            <a:noFill/>
            <a:ln w="12382">
              <a:solidFill>
                <a:srgbClr val="FFFFFF"/>
              </a:solidFill>
              <a:round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985385" y="3813810"/>
              <a:ext cx="702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HSE管理</a:t>
              </a:r>
              <a:endParaRPr lang="zh-CN" sz="1200" b="1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557010" y="3804285"/>
              <a:ext cx="15289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数据接入·入口跳转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495800" y="4086225"/>
              <a:ext cx="358140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4638675" y="4124325"/>
              <a:ext cx="247650" cy="24765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4695825" y="4191000"/>
              <a:ext cx="133350" cy="104775"/>
              <a:chOff x="4695825" y="4191000"/>
              <a:chExt cx="133350" cy="104775"/>
            </a:xfrm>
          </p:grpSpPr>
          <p:sp>
            <p:nvSpPr>
              <p:cNvPr id="89" name="Ellipse 89"/>
              <p:cNvSpPr/>
              <p:nvPr/>
            </p:nvSpPr>
            <p:spPr>
              <a:xfrm>
                <a:off x="4695825" y="4191000"/>
                <a:ext cx="57150" cy="57150"/>
              </a:xfrm>
              <a:prstGeom prst="ellipse">
                <a:avLst/>
              </a:prstGeom>
              <a:noFill/>
              <a:ln w="12382">
                <a:solidFill>
                  <a:srgbClr val="FFFFFF"/>
                </a:solidFill>
              </a:ln>
            </p:spPr>
          </p:sp>
          <p:sp>
            <p:nvSpPr>
              <p:cNvPr id="90" name="Ellipse 90"/>
              <p:cNvSpPr/>
              <p:nvPr/>
            </p:nvSpPr>
            <p:spPr>
              <a:xfrm>
                <a:off x="4772025" y="4191000"/>
                <a:ext cx="57150" cy="57150"/>
              </a:xfrm>
              <a:prstGeom prst="ellipse">
                <a:avLst/>
              </a:prstGeom>
              <a:noFill/>
              <a:ln w="12382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4695825" y="4238625"/>
                <a:ext cx="1333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57150">
                    <a:moveTo>
                      <a:pt x="0" y="57150"/>
                    </a:moveTo>
                    <a:cubicBezTo>
                      <a:pt x="0" y="19050"/>
                      <a:pt x="28575" y="0"/>
                      <a:pt x="28575" y="0"/>
                    </a:cubicBezTo>
                    <a:lnTo>
                      <a:pt x="104775" y="0"/>
                    </a:lnTo>
                    <a:cubicBezTo>
                      <a:pt x="104775" y="0"/>
                      <a:pt x="133350" y="19050"/>
                      <a:pt x="133350" y="57150"/>
                    </a:cubicBezTo>
                  </a:path>
                </a:pathLst>
              </a:custGeom>
              <a:noFill/>
              <a:ln w="12382">
                <a:solidFill>
                  <a:srgbClr val="FFFFFF"/>
                </a:solidFill>
                <a:round/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4985385" y="41757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人员管理</a:t>
              </a:r>
              <a:endParaRPr lang="zh-CN" sz="1200" b="1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557010" y="4166235"/>
              <a:ext cx="15289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绩效系统·劳务实名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4495800" y="4448175"/>
              <a:ext cx="358140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4638675" y="4486275"/>
              <a:ext cx="247650" cy="24765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4705350" y="4543425"/>
              <a:ext cx="114300" cy="133350"/>
              <a:chOff x="4705350" y="4543425"/>
              <a:chExt cx="114300" cy="133350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4705350" y="4543425"/>
                <a:ext cx="114300" cy="133350"/>
              </a:xfrm>
              <a:prstGeom prst="roundRect">
                <a:avLst>
                  <a:gd name="adj" fmla="val 12500"/>
                </a:avLst>
              </a:prstGeom>
              <a:noFill/>
              <a:ln w="12382">
                <a:solidFill>
                  <a:srgbClr val="FFFFFF"/>
                </a:solidFill>
              </a:ln>
            </p:spPr>
          </p:sp>
          <p:sp>
            <p:nvSpPr>
              <p:cNvPr id="98" name="Line 98"/>
              <p:cNvSpPr/>
              <p:nvPr/>
            </p:nvSpPr>
            <p:spPr>
              <a:xfrm>
                <a:off x="4724400" y="45815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99" name="Line 99"/>
              <p:cNvSpPr/>
              <p:nvPr/>
            </p:nvSpPr>
            <p:spPr>
              <a:xfrm>
                <a:off x="4724400" y="46101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4985385" y="4537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项目文件</a:t>
              </a:r>
              <a:endParaRPr lang="zh-CN" sz="1200" b="1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557010" y="45281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数字员工归档·OCR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4495800" y="4810125"/>
              <a:ext cx="358140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104" name="Ellipse 104"/>
            <p:cNvSpPr/>
            <p:nvPr/>
          </p:nvSpPr>
          <p:spPr>
            <a:xfrm>
              <a:off x="4638675" y="4848225"/>
              <a:ext cx="247650" cy="24765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4695825" y="4924425"/>
              <a:ext cx="133350" cy="95250"/>
              <a:chOff x="4695825" y="4924425"/>
              <a:chExt cx="133350" cy="95250"/>
            </a:xfrm>
          </p:grpSpPr>
          <p:sp>
            <p:nvSpPr>
              <p:cNvPr id="105" name="Rectangle 105"/>
              <p:cNvSpPr/>
              <p:nvPr/>
            </p:nvSpPr>
            <p:spPr>
              <a:xfrm>
                <a:off x="4695825" y="4924425"/>
                <a:ext cx="133350" cy="95250"/>
              </a:xfrm>
              <a:prstGeom prst="roundRect">
                <a:avLst>
                  <a:gd name="adj" fmla="val 20000"/>
                </a:avLst>
              </a:prstGeom>
              <a:noFill/>
              <a:ln w="12382">
                <a:solidFill>
                  <a:srgbClr val="FFFFFF"/>
                </a:solidFill>
              </a:ln>
            </p:spPr>
          </p:sp>
          <p:sp>
            <p:nvSpPr>
              <p:cNvPr id="106" name="Line 106"/>
              <p:cNvSpPr/>
              <p:nvPr/>
            </p:nvSpPr>
            <p:spPr>
              <a:xfrm>
                <a:off x="4733925" y="49720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4985385" y="4899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综合管理</a:t>
              </a:r>
              <a:endParaRPr lang="zh-CN" sz="1200" b="1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557010" y="4890135"/>
              <a:ext cx="15289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项目后勤·会议纪要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11" name="Rectangle 111"/>
          <p:cNvSpPr/>
          <p:nvPr/>
        </p:nvSpPr>
        <p:spPr>
          <a:xfrm>
            <a:off x="8429625" y="2428875"/>
            <a:ext cx="3238500" cy="29527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112" name="TextBox 112"/>
          <p:cNvSpPr txBox="1"/>
          <p:nvPr/>
        </p:nvSpPr>
        <p:spPr>
          <a:xfrm>
            <a:off x="9410652" y="25403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三大落地载体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3" name="Rectangle 113"/>
          <p:cNvSpPr/>
          <p:nvPr/>
        </p:nvSpPr>
        <p:spPr>
          <a:xfrm>
            <a:off x="8591550" y="2886075"/>
            <a:ext cx="2905125" cy="457200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114" name="Ellipse 114"/>
          <p:cNvSpPr/>
          <p:nvPr/>
        </p:nvSpPr>
        <p:spPr>
          <a:xfrm>
            <a:off x="8772525" y="2971800"/>
            <a:ext cx="266700" cy="2667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grpSp>
        <p:nvGrpSpPr>
          <p:cNvPr id="119" name="Group 119"/>
          <p:cNvGrpSpPr/>
          <p:nvPr/>
        </p:nvGrpSpPr>
        <p:grpSpPr>
          <a:xfrm>
            <a:off x="8829675" y="3038475"/>
            <a:ext cx="152400" cy="152400"/>
            <a:chOff x="8829675" y="3038475"/>
            <a:chExt cx="152400" cy="152400"/>
          </a:xfrm>
        </p:grpSpPr>
        <p:sp>
          <p:nvSpPr>
            <p:cNvPr id="115" name="Rectangle 115"/>
            <p:cNvSpPr/>
            <p:nvPr/>
          </p:nvSpPr>
          <p:spPr>
            <a:xfrm>
              <a:off x="8829675" y="3038475"/>
              <a:ext cx="152400" cy="114300"/>
            </a:xfrm>
            <a:prstGeom prst="roundRect">
              <a:avLst>
                <a:gd name="adj" fmla="val 8333"/>
              </a:avLst>
            </a:prstGeom>
            <a:noFill/>
            <a:ln w="14288">
              <a:solidFill>
                <a:srgbClr val="FFFFFF"/>
              </a:solidFill>
            </a:ln>
          </p:spPr>
        </p:sp>
        <p:sp>
          <p:nvSpPr>
            <p:cNvPr id="116" name="Line 116"/>
            <p:cNvSpPr/>
            <p:nvPr/>
          </p:nvSpPr>
          <p:spPr>
            <a:xfrm>
              <a:off x="8877300" y="315277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4288" cap="rnd">
              <a:solidFill>
                <a:srgbClr val="FFFFFF"/>
              </a:solidFill>
            </a:ln>
          </p:spPr>
        </p:sp>
        <p:sp>
          <p:nvSpPr>
            <p:cNvPr id="117" name="Line 117"/>
            <p:cNvSpPr/>
            <p:nvPr/>
          </p:nvSpPr>
          <p:spPr>
            <a:xfrm>
              <a:off x="8905875" y="3152775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4288" cap="rnd">
              <a:solidFill>
                <a:srgbClr val="FFFFFF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8886825" y="3171825"/>
              <a:ext cx="38100" cy="1905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120" name="TextBox 120"/>
          <p:cNvSpPr txBox="1"/>
          <p:nvPr/>
        </p:nvSpPr>
        <p:spPr>
          <a:xfrm>
            <a:off x="9271635" y="30422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网页端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1" name="TextBox 121"/>
          <p:cNvSpPr txBox="1"/>
          <p:nvPr/>
        </p:nvSpPr>
        <p:spPr>
          <a:xfrm>
            <a:off x="10464165" y="3029902"/>
            <a:ext cx="1184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驾驶舱·数据分析</a:t>
            </a:r>
            <a:endParaRPr lang="zh-CN" sz="10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2" name="Rectangle 122"/>
          <p:cNvSpPr/>
          <p:nvPr/>
        </p:nvSpPr>
        <p:spPr>
          <a:xfrm>
            <a:off x="8591550" y="3390900"/>
            <a:ext cx="2905125" cy="457200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 w="9525">
            <a:solidFill>
              <a:srgbClr val="94A3B8"/>
            </a:solidFill>
          </a:ln>
        </p:spPr>
      </p:sp>
      <p:sp>
        <p:nvSpPr>
          <p:cNvPr id="123" name="Ellipse 123"/>
          <p:cNvSpPr/>
          <p:nvPr/>
        </p:nvSpPr>
        <p:spPr>
          <a:xfrm>
            <a:off x="8772525" y="3476625"/>
            <a:ext cx="266700" cy="2667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grpSp>
        <p:nvGrpSpPr>
          <p:cNvPr id="130" name="Group 130"/>
          <p:cNvGrpSpPr/>
          <p:nvPr/>
        </p:nvGrpSpPr>
        <p:grpSpPr>
          <a:xfrm>
            <a:off x="8839200" y="3500438"/>
            <a:ext cx="133350" cy="157162"/>
            <a:chOff x="8839200" y="3500438"/>
            <a:chExt cx="133350" cy="157162"/>
          </a:xfrm>
        </p:grpSpPr>
        <p:sp>
          <p:nvSpPr>
            <p:cNvPr id="124" name="Rectangle 124"/>
            <p:cNvSpPr/>
            <p:nvPr/>
          </p:nvSpPr>
          <p:spPr>
            <a:xfrm>
              <a:off x="8839200" y="3552825"/>
              <a:ext cx="133350" cy="104775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FFFFFF"/>
              </a:solidFill>
            </a:ln>
          </p:spPr>
        </p:sp>
        <p:sp>
          <p:nvSpPr>
            <p:cNvPr id="125" name="Line 125"/>
            <p:cNvSpPr/>
            <p:nvPr/>
          </p:nvSpPr>
          <p:spPr>
            <a:xfrm>
              <a:off x="8905875" y="352425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28575"/>
                  </a:moveTo>
                  <a:lnTo>
                    <a:pt x="0" y="0"/>
                  </a:lnTo>
                </a:path>
              </a:pathLst>
            </a:custGeom>
            <a:noFill/>
            <a:ln w="14288" cap="rnd">
              <a:solidFill>
                <a:srgbClr val="FFFFFF"/>
              </a:solidFill>
            </a:ln>
          </p:spPr>
        </p:sp>
        <p:sp>
          <p:nvSpPr>
            <p:cNvPr id="126" name="Ellipse 126"/>
            <p:cNvSpPr/>
            <p:nvPr/>
          </p:nvSpPr>
          <p:spPr>
            <a:xfrm>
              <a:off x="8891588" y="3500438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8863012" y="3576638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8920162" y="3576638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8877300" y="3619500"/>
              <a:ext cx="57150" cy="190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131" name="TextBox 131"/>
          <p:cNvSpPr txBox="1"/>
          <p:nvPr/>
        </p:nvSpPr>
        <p:spPr>
          <a:xfrm>
            <a:off x="9271635" y="35661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智能体</a:t>
            </a:r>
            <a:endParaRPr lang="zh-CN" sz="120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2" name="TextBox 132"/>
          <p:cNvSpPr txBox="1"/>
          <p:nvPr/>
        </p:nvSpPr>
        <p:spPr>
          <a:xfrm>
            <a:off x="10464165" y="35347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数字员工</a:t>
            </a:r>
            <a:endParaRPr lang="zh-CN" sz="10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3" name="Rectangle 133"/>
          <p:cNvSpPr/>
          <p:nvPr/>
        </p:nvSpPr>
        <p:spPr>
          <a:xfrm>
            <a:off x="8591550" y="3895725"/>
            <a:ext cx="2905125" cy="457200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 w="19050">
            <a:solidFill>
              <a:srgbClr val="607D8B"/>
            </a:solidFill>
          </a:ln>
        </p:spPr>
      </p:sp>
      <p:sp>
        <p:nvSpPr>
          <p:cNvPr id="134" name="Ellipse 134"/>
          <p:cNvSpPr/>
          <p:nvPr/>
        </p:nvSpPr>
        <p:spPr>
          <a:xfrm>
            <a:off x="8772525" y="3981450"/>
            <a:ext cx="266700" cy="2667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grpSp>
        <p:nvGrpSpPr>
          <p:cNvPr id="137" name="Group 137"/>
          <p:cNvGrpSpPr/>
          <p:nvPr/>
        </p:nvGrpSpPr>
        <p:grpSpPr>
          <a:xfrm>
            <a:off x="8848725" y="4029075"/>
            <a:ext cx="114300" cy="161925"/>
            <a:chOff x="8848725" y="4029075"/>
            <a:chExt cx="114300" cy="161925"/>
          </a:xfrm>
        </p:grpSpPr>
        <p:sp>
          <p:nvSpPr>
            <p:cNvPr id="135" name="Rectangle 135"/>
            <p:cNvSpPr/>
            <p:nvPr/>
          </p:nvSpPr>
          <p:spPr>
            <a:xfrm>
              <a:off x="8848725" y="4029075"/>
              <a:ext cx="114300" cy="161925"/>
            </a:xfrm>
            <a:prstGeom prst="roundRect">
              <a:avLst>
                <a:gd name="adj" fmla="val 12500"/>
              </a:avLst>
            </a:prstGeom>
            <a:noFill/>
            <a:ln w="14288">
              <a:solidFill>
                <a:srgbClr val="FFFFFF"/>
              </a:solidFill>
            </a:ln>
          </p:spPr>
        </p:sp>
        <p:sp>
          <p:nvSpPr>
            <p:cNvPr id="136" name="Ellipse 136"/>
            <p:cNvSpPr/>
            <p:nvPr/>
          </p:nvSpPr>
          <p:spPr>
            <a:xfrm>
              <a:off x="8891588" y="4157662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138" name="TextBox 138"/>
          <p:cNvSpPr txBox="1"/>
          <p:nvPr/>
        </p:nvSpPr>
        <p:spPr>
          <a:xfrm>
            <a:off x="9271635" y="40709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移动端</a:t>
            </a:r>
            <a:endParaRPr lang="zh-CN" sz="120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9" name="TextBox 139"/>
          <p:cNvSpPr txBox="1"/>
          <p:nvPr/>
        </p:nvSpPr>
        <p:spPr>
          <a:xfrm>
            <a:off x="10464165" y="4039552"/>
            <a:ext cx="10924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企微·水印·OCR</a:t>
            </a:r>
            <a:endParaRPr lang="zh-CN" sz="10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0" name="TextBox 140"/>
          <p:cNvSpPr txBox="1"/>
          <p:nvPr/>
        </p:nvSpPr>
        <p:spPr>
          <a:xfrm>
            <a:off x="8344829" y="4534852"/>
            <a:ext cx="34080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外部系统：普华/泛微（只读） HSE（接入+跳转）</a:t>
            </a:r>
            <a:endParaRPr lang="zh-CN" sz="1050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1" name="TextBox 141"/>
          <p:cNvSpPr txBox="1"/>
          <p:nvPr/>
        </p:nvSpPr>
        <p:spPr>
          <a:xfrm>
            <a:off x="8831723" y="4658678"/>
            <a:ext cx="24343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南宁绩效（移植） 数据接口（API）</a:t>
            </a:r>
            <a:endParaRPr lang="zh-CN" sz="1050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2" name="Rectangle 142"/>
          <p:cNvSpPr/>
          <p:nvPr/>
        </p:nvSpPr>
        <p:spPr>
          <a:xfrm>
            <a:off x="523875" y="5524500"/>
            <a:ext cx="11144250" cy="7620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14288">
            <a:solidFill>
              <a:srgbClr val="607D8B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699135" y="5633085"/>
            <a:ext cx="18983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知识底座 — 管理知识库</a:t>
            </a:r>
            <a:endParaRPr lang="zh-CN" sz="120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52" name="Group 152"/>
          <p:cNvGrpSpPr/>
          <p:nvPr/>
        </p:nvGrpSpPr>
        <p:grpSpPr>
          <a:xfrm>
            <a:off x="714375" y="5934075"/>
            <a:ext cx="10763250" cy="276225"/>
            <a:chOff x="714375" y="5934075"/>
            <a:chExt cx="10763250" cy="276225"/>
          </a:xfrm>
        </p:grpSpPr>
        <p:sp>
          <p:nvSpPr>
            <p:cNvPr id="144" name="Rectangle 144"/>
            <p:cNvSpPr/>
            <p:nvPr/>
          </p:nvSpPr>
          <p:spPr>
            <a:xfrm>
              <a:off x="714375" y="5934075"/>
              <a:ext cx="2524125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891731" y="5966460"/>
              <a:ext cx="2159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项目查询 — 跨项目经验检索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3381375" y="5934075"/>
              <a:ext cx="2524125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3471100" y="5966460"/>
              <a:ext cx="23351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错题库 — 问题与解决方案沉淀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6048375" y="5934075"/>
              <a:ext cx="2524125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6313361" y="5966460"/>
              <a:ext cx="1984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投标知识 — 历史方案复用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8715375" y="5934075"/>
              <a:ext cx="2762250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8841296" y="5966460"/>
              <a:ext cx="25104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经验沉淀 — 多层级知识资产积累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53" name="TextBox 153"/>
          <p:cNvSpPr txBox="1"/>
          <p:nvPr/>
        </p:nvSpPr>
        <p:spPr>
          <a:xfrm>
            <a:off x="11325344" y="6546056"/>
            <a:ext cx="1189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2719697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建设原则与目标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41045" y="1441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三大原则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62000" y="1857375"/>
            <a:ext cx="3333750" cy="762000"/>
            <a:chOff x="762000" y="1857375"/>
            <a:chExt cx="3333750" cy="762000"/>
          </a:xfrm>
        </p:grpSpPr>
        <p:sp>
          <p:nvSpPr>
            <p:cNvPr id="7" name="Rectangle 7"/>
            <p:cNvSpPr/>
            <p:nvPr/>
          </p:nvSpPr>
          <p:spPr>
            <a:xfrm>
              <a:off x="762000" y="1857375"/>
              <a:ext cx="3333750" cy="762000"/>
            </a:xfrm>
            <a:prstGeom prst="roundRect">
              <a:avLst>
                <a:gd name="adj" fmla="val 12500"/>
              </a:avLst>
            </a:prstGeom>
            <a:solidFill>
              <a:srgbClr val="F5F7F9"/>
            </a:solidFill>
            <a:ln w="9525">
              <a:solidFill>
                <a:srgbClr val="E8EAE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95350" y="2085975"/>
              <a:ext cx="304800" cy="3048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0262" y="21821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2545" y="19650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不重复建设</a:t>
              </a:r>
              <a:endPara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6355" y="22545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已有系统不替代，只做互补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29125" y="1857375"/>
            <a:ext cx="3333750" cy="762000"/>
            <a:chOff x="4429125" y="1857375"/>
            <a:chExt cx="3333750" cy="762000"/>
          </a:xfrm>
        </p:grpSpPr>
        <p:sp>
          <p:nvSpPr>
            <p:cNvPr id="13" name="Rectangle 13"/>
            <p:cNvSpPr/>
            <p:nvPr/>
          </p:nvSpPr>
          <p:spPr>
            <a:xfrm>
              <a:off x="4429125" y="1857375"/>
              <a:ext cx="3333750" cy="762000"/>
            </a:xfrm>
            <a:prstGeom prst="roundRect">
              <a:avLst>
                <a:gd name="adj" fmla="val 12500"/>
              </a:avLst>
            </a:prstGeom>
            <a:solidFill>
              <a:srgbClr val="F5F7F9"/>
            </a:solidFill>
            <a:ln w="9525">
              <a:solidFill>
                <a:srgbClr val="E8EAED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562475" y="2085975"/>
              <a:ext cx="304800" cy="3048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57259" y="21821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79670" y="19650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不增加负担</a:t>
              </a:r>
              <a:endPara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83480" y="22545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无感采集，一线减负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96250" y="1857375"/>
            <a:ext cx="3333750" cy="762000"/>
            <a:chOff x="8096250" y="1857375"/>
            <a:chExt cx="3333750" cy="762000"/>
          </a:xfrm>
        </p:grpSpPr>
        <p:sp>
          <p:nvSpPr>
            <p:cNvPr id="19" name="Rectangle 19"/>
            <p:cNvSpPr/>
            <p:nvPr/>
          </p:nvSpPr>
          <p:spPr>
            <a:xfrm>
              <a:off x="8096250" y="1857375"/>
              <a:ext cx="3333750" cy="762000"/>
            </a:xfrm>
            <a:prstGeom prst="roundRect">
              <a:avLst>
                <a:gd name="adj" fmla="val 12500"/>
              </a:avLst>
            </a:prstGeom>
            <a:solidFill>
              <a:srgbClr val="F5F7F9"/>
            </a:solidFill>
            <a:ln w="9525">
              <a:solidFill>
                <a:srgbClr val="E8EAED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229600" y="2085975"/>
              <a:ext cx="304800" cy="3048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24384" y="21821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46795" y="19650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专注业务场景</a:t>
              </a:r>
              <a:endPara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50605" y="22545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聚焦现场真实需求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41045" y="2965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三大目标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762000" y="3381375"/>
            <a:ext cx="3333750" cy="2381250"/>
            <a:chOff x="762000" y="3381375"/>
            <a:chExt cx="3333750" cy="2381250"/>
          </a:xfrm>
        </p:grpSpPr>
        <p:sp>
          <p:nvSpPr>
            <p:cNvPr id="26" name="Rectangle 26"/>
            <p:cNvSpPr/>
            <p:nvPr/>
          </p:nvSpPr>
          <p:spPr>
            <a:xfrm>
              <a:off x="762000" y="3381375"/>
              <a:ext cx="3333750" cy="2381250"/>
            </a:xfrm>
            <a:prstGeom prst="roundRect">
              <a:avLst>
                <a:gd name="adj" fmla="val 4000"/>
              </a:avLst>
            </a:prstGeom>
            <a:solidFill>
              <a:srgbClr val="F5F7F9"/>
            </a:solidFill>
            <a:ln w="9525">
              <a:solidFill>
                <a:srgbClr val="E8EAED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95251" y="3581400"/>
              <a:ext cx="46724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30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69278" y="4108132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支撑多层级管理价值</a:t>
              </a:r>
              <a:endPara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5855" y="45215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面向总部、子公司及项目部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855" y="475964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建设差异化驾驶舱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5855" y="49977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沉淀现场工作模板库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5855" y="523589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反向指导一线作业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29125" y="3381375"/>
            <a:ext cx="3333750" cy="2381250"/>
            <a:chOff x="4429125" y="3381375"/>
            <a:chExt cx="3333750" cy="2381250"/>
          </a:xfrm>
        </p:grpSpPr>
        <p:sp>
          <p:nvSpPr>
            <p:cNvPr id="34" name="Rectangle 34"/>
            <p:cNvSpPr/>
            <p:nvPr/>
          </p:nvSpPr>
          <p:spPr>
            <a:xfrm>
              <a:off x="4429125" y="3381375"/>
              <a:ext cx="3333750" cy="2381250"/>
            </a:xfrm>
            <a:prstGeom prst="roundRect">
              <a:avLst>
                <a:gd name="adj" fmla="val 4000"/>
              </a:avLst>
            </a:prstGeom>
            <a:solidFill>
              <a:srgbClr val="F5F7F9"/>
            </a:solidFill>
            <a:ln w="9525">
              <a:solidFill>
                <a:srgbClr val="94A3B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4868" y="358140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607D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30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83371" y="4108132"/>
              <a:ext cx="28252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源头减负，提升反馈效率</a:t>
              </a:r>
              <a:endPara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92980" y="45215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以移动端、数字员工为核心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92980" y="4759642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深度集成现有业务数据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92980" y="49977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减少人工重复填报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92980" y="5235892"/>
              <a:ext cx="20848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水印相机+OCR无感采集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096250" y="3381375"/>
            <a:ext cx="3333750" cy="2381250"/>
            <a:chOff x="8096250" y="3381375"/>
            <a:chExt cx="3333750" cy="2381250"/>
          </a:xfrm>
        </p:grpSpPr>
        <p:sp>
          <p:nvSpPr>
            <p:cNvPr id="42" name="Rectangle 42"/>
            <p:cNvSpPr/>
            <p:nvPr/>
          </p:nvSpPr>
          <p:spPr>
            <a:xfrm>
              <a:off x="8096250" y="3381375"/>
              <a:ext cx="3333750" cy="2381250"/>
            </a:xfrm>
            <a:prstGeom prst="roundRect">
              <a:avLst>
                <a:gd name="adj" fmla="val 4000"/>
              </a:avLst>
            </a:prstGeom>
            <a:solidFill>
              <a:srgbClr val="F5F7F9"/>
            </a:solidFill>
            <a:ln w="9525">
              <a:solidFill>
                <a:srgbClr val="607D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71993" y="358140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30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03528" y="4108132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人机协同，智能决策</a:t>
              </a:r>
              <a:endPara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0105" y="4521518"/>
              <a:ext cx="2173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AI智能体对进度、采购、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0105" y="4759642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质量等维度进行分析比对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60105" y="49977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支撑项目全息体检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60105" y="5235892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智能预警与辅助决策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325344" y="6546056"/>
            <a:ext cx="1189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4996982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系统架构：三位一体智慧中枢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33500"/>
            <a:ext cx="7381875" cy="1095375"/>
          </a:xfrm>
          <a:prstGeom prst="roundRect">
            <a:avLst>
              <a:gd name="adj" fmla="val 10435"/>
            </a:avLst>
          </a:prstGeom>
          <a:noFill/>
          <a:ln w="19050">
            <a:solidFill>
              <a:srgbClr val="00ACC1"/>
            </a:solidFill>
          </a:ln>
        </p:spPr>
      </p:sp>
      <p:sp>
        <p:nvSpPr>
          <p:cNvPr id="7" name="Ellipse 7"/>
          <p:cNvSpPr/>
          <p:nvPr/>
        </p:nvSpPr>
        <p:spPr>
          <a:xfrm>
            <a:off x="3981450" y="1409700"/>
            <a:ext cx="457200" cy="4572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133850" y="1581150"/>
            <a:ext cx="152400" cy="114300"/>
            <a:chOff x="4133850" y="1581150"/>
            <a:chExt cx="152400" cy="114300"/>
          </a:xfrm>
        </p:grpSpPr>
        <p:sp>
          <p:nvSpPr>
            <p:cNvPr id="8" name="Ellipse 8"/>
            <p:cNvSpPr/>
            <p:nvPr/>
          </p:nvSpPr>
          <p:spPr>
            <a:xfrm>
              <a:off x="4133850" y="1581150"/>
              <a:ext cx="76200" cy="114300"/>
            </a:xfrm>
            <a:prstGeom prst="ellipse">
              <a:avLst/>
            </a:prstGeom>
            <a:noFill/>
            <a:ln w="14288" cap="rnd">
              <a:solidFill>
                <a:srgbClr val="FFFFF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210050" y="1581150"/>
              <a:ext cx="76200" cy="114300"/>
            </a:xfrm>
            <a:prstGeom prst="ellipse">
              <a:avLst/>
            </a:prstGeom>
            <a:noFill/>
            <a:ln w="14288" cap="rnd">
              <a:solidFill>
                <a:srgbClr val="FFFFFF"/>
              </a:solidFill>
            </a:ln>
          </p:spPr>
        </p:sp>
        <p:sp>
          <p:nvSpPr>
            <p:cNvPr id="10" name="Polyline 10"/>
            <p:cNvSpPr/>
            <p:nvPr/>
          </p:nvSpPr>
          <p:spPr>
            <a:xfrm>
              <a:off x="4181475" y="1600200"/>
              <a:ext cx="57150" cy="19050"/>
            </a:xfrm>
            <a:custGeom>
              <a:avLst/>
              <a:gdLst/>
              <a:ahLst/>
              <a:cxnLst/>
              <a:rect l="l" t="t" r="r" b="b"/>
              <a:pathLst>
                <a:path w="57150" h="19050">
                  <a:moveTo>
                    <a:pt x="0" y="0"/>
                  </a:moveTo>
                  <a:lnTo>
                    <a:pt x="28575" y="19050"/>
                  </a:lnTo>
                  <a:lnTo>
                    <a:pt x="57150" y="0"/>
                  </a:lnTo>
                </a:path>
              </a:pathLst>
            </a:custGeom>
            <a:noFill/>
            <a:ln w="14288" cap="rnd">
              <a:solidFill>
                <a:srgbClr val="FFFFFF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2518152" y="1837372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 智能体群（智慧大脑）</a:t>
            </a:r>
            <a:endParaRPr lang="zh-CN" sz="19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740152" y="2175510"/>
            <a:ext cx="293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感知 · 比对 · 识别 · 预警 — 核心引擎</a:t>
            </a:r>
            <a:endParaRPr lang="zh-CN" sz="120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2333625" y="2428875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94A3B8"/>
            </a:solidFill>
            <a:custDash>
              <a:ds d="400000" sp="266666"/>
            </a:custDash>
          </a:ln>
        </p:spPr>
      </p:sp>
      <p:sp>
        <p:nvSpPr>
          <p:cNvPr id="15" name="Line 15"/>
          <p:cNvSpPr/>
          <p:nvPr/>
        </p:nvSpPr>
        <p:spPr>
          <a:xfrm>
            <a:off x="6096000" y="2428875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94A3B8"/>
            </a:solidFill>
            <a:custDash>
              <a:ds d="400000" sp="266666"/>
            </a:custDash>
          </a:ln>
        </p:spPr>
      </p:sp>
      <p:sp>
        <p:nvSpPr>
          <p:cNvPr id="16" name="Ellipse 16"/>
          <p:cNvSpPr/>
          <p:nvPr/>
        </p:nvSpPr>
        <p:spPr>
          <a:xfrm>
            <a:off x="2295525" y="2752725"/>
            <a:ext cx="76200" cy="762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057900" y="2752725"/>
            <a:ext cx="76200" cy="76200"/>
          </a:xfrm>
          <a:prstGeom prst="ellipse">
            <a:avLst/>
          </a:prstGeom>
          <a:solidFill>
            <a:srgbClr val="00ACC1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23875" y="2809875"/>
            <a:ext cx="3619500" cy="2762250"/>
          </a:xfrm>
          <a:prstGeom prst="roundRect">
            <a:avLst>
              <a:gd name="adj" fmla="val 3448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2105025" y="2895600"/>
            <a:ext cx="457200" cy="4572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2238375" y="3048000"/>
            <a:ext cx="190500" cy="200025"/>
            <a:chOff x="2238375" y="3048000"/>
            <a:chExt cx="190500" cy="200025"/>
          </a:xfrm>
        </p:grpSpPr>
        <p:sp>
          <p:nvSpPr>
            <p:cNvPr id="20" name="Rectangle 20"/>
            <p:cNvSpPr/>
            <p:nvPr/>
          </p:nvSpPr>
          <p:spPr>
            <a:xfrm>
              <a:off x="2238375" y="3048000"/>
              <a:ext cx="190500" cy="133350"/>
            </a:xfrm>
            <a:prstGeom prst="roundRect">
              <a:avLst>
                <a:gd name="adj" fmla="val 14286"/>
              </a:avLst>
            </a:prstGeom>
            <a:noFill/>
            <a:ln w="14288" cap="rnd">
              <a:solidFill>
                <a:srgbClr val="FFFFFF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333625" y="31813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 cap="rnd">
              <a:solidFill>
                <a:srgbClr val="FFFF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266950" y="323850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 cap="rnd">
              <a:solidFill>
                <a:srgbClr val="FFFFFF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914145" y="3365182"/>
            <a:ext cx="8389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WEB 端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617345" y="36233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业务条线管理中心</a:t>
            </a:r>
            <a:endParaRPr lang="zh-CN" sz="120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685800" y="3981450"/>
            <a:ext cx="1600200" cy="34290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26580" y="4070985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进度管理智能体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2381250" y="3981450"/>
            <a:ext cx="1600200" cy="34290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522029" y="4070985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采购物流智能体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685800" y="4400550"/>
            <a:ext cx="1600200" cy="34290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6580" y="4490085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质量安全智能体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2381250" y="4400550"/>
            <a:ext cx="1600200" cy="34290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430018" y="4490085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工程档案数字员工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685800" y="4819650"/>
            <a:ext cx="3295650" cy="34290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490282" y="4909185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施工数字孪生智能体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4286250" y="2809875"/>
            <a:ext cx="3619500" cy="2762250"/>
          </a:xfrm>
          <a:prstGeom prst="roundRect">
            <a:avLst>
              <a:gd name="adj" fmla="val 3448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5867400" y="2895600"/>
            <a:ext cx="457200" cy="4572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6029325" y="3028950"/>
            <a:ext cx="133350" cy="238125"/>
            <a:chOff x="6029325" y="3028950"/>
            <a:chExt cx="133350" cy="238125"/>
          </a:xfrm>
        </p:grpSpPr>
        <p:sp>
          <p:nvSpPr>
            <p:cNvPr id="38" name="Rectangle 38"/>
            <p:cNvSpPr/>
            <p:nvPr/>
          </p:nvSpPr>
          <p:spPr>
            <a:xfrm>
              <a:off x="6029325" y="3028950"/>
              <a:ext cx="133350" cy="190500"/>
            </a:xfrm>
            <a:prstGeom prst="roundRect">
              <a:avLst>
                <a:gd name="adj" fmla="val 17857"/>
              </a:avLst>
            </a:prstGeom>
            <a:noFill/>
            <a:ln w="14288" cap="rnd">
              <a:solidFill>
                <a:srgbClr val="FFFFFF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086475" y="3248025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5695498" y="33651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移动端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292090" y="36233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现场流程在线化中心</a:t>
            </a:r>
            <a:endParaRPr lang="zh-CN" sz="120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4448175" y="3981450"/>
            <a:ext cx="3295650" cy="342900"/>
          </a:xfrm>
          <a:prstGeom prst="roundRect">
            <a:avLst>
              <a:gd name="adj" fmla="val 50000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528691" y="407098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数字员工服务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4448175" y="4552950"/>
            <a:ext cx="3295650" cy="342900"/>
          </a:xfrm>
          <a:prstGeom prst="roundRect">
            <a:avLst>
              <a:gd name="adj" fmla="val 50000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436680" y="4642485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流程在线化工具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4448175" y="5124450"/>
            <a:ext cx="3295650" cy="342900"/>
          </a:xfrm>
          <a:prstGeom prst="roundRect">
            <a:avLst>
              <a:gd name="adj" fmla="val 50000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981223" y="5213985"/>
            <a:ext cx="22295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Clawbot · OCR · 水印相机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8048625" y="1333500"/>
            <a:ext cx="3619500" cy="4286250"/>
          </a:xfrm>
          <a:prstGeom prst="roundRect">
            <a:avLst>
              <a:gd name="adj" fmla="val 2632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8239125" y="157162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370570" y="1555432"/>
            <a:ext cx="15221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大建设场景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85" name="Group 85"/>
          <p:cNvGrpSpPr/>
          <p:nvPr/>
        </p:nvGrpSpPr>
        <p:grpSpPr>
          <a:xfrm>
            <a:off x="8210550" y="1952625"/>
            <a:ext cx="3295650" cy="3429000"/>
            <a:chOff x="8210550" y="1952625"/>
            <a:chExt cx="3295650" cy="3429000"/>
          </a:xfrm>
        </p:grpSpPr>
        <p:sp>
          <p:nvSpPr>
            <p:cNvPr id="52" name="Rectangle 52"/>
            <p:cNvSpPr/>
            <p:nvPr/>
          </p:nvSpPr>
          <p:spPr>
            <a:xfrm>
              <a:off x="8210550" y="1952625"/>
              <a:ext cx="3295650" cy="609600"/>
            </a:xfrm>
            <a:prstGeom prst="roundRect">
              <a:avLst>
                <a:gd name="adj" fmla="val 12500"/>
              </a:avLst>
            </a:prstGeom>
            <a:noFill/>
            <a:ln w="9525">
              <a:solidFill>
                <a:srgbClr val="E8ECF0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372475" y="2105025"/>
              <a:ext cx="304800" cy="3048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467725" y="2238375"/>
              <a:ext cx="114300" cy="85725"/>
              <a:chOff x="8467725" y="2238375"/>
              <a:chExt cx="114300" cy="85725"/>
            </a:xfrm>
          </p:grpSpPr>
          <p:sp>
            <p:nvSpPr>
              <p:cNvPr id="54" name="Line 54"/>
              <p:cNvSpPr/>
              <p:nvPr/>
            </p:nvSpPr>
            <p:spPr>
              <a:xfrm>
                <a:off x="8467725" y="231457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8477250" y="2266950"/>
                <a:ext cx="23812" cy="476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8515350" y="2238375"/>
                <a:ext cx="23812" cy="76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553450" y="2286000"/>
                <a:ext cx="23812" cy="285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8745855" y="21783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项目进度分析</a:t>
              </a:r>
              <a:endPara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210550" y="2657475"/>
              <a:ext cx="3295650" cy="609600"/>
            </a:xfrm>
            <a:prstGeom prst="roundRect">
              <a:avLst>
                <a:gd name="adj" fmla="val 12500"/>
              </a:avLst>
            </a:prstGeom>
            <a:noFill/>
            <a:ln w="9525">
              <a:solidFill>
                <a:srgbClr val="E8ECF0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8372475" y="2809875"/>
              <a:ext cx="304800" cy="3048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477250" y="2895600"/>
              <a:ext cx="95250" cy="160020"/>
              <a:chOff x="8477250" y="2895600"/>
              <a:chExt cx="95250" cy="16002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8477250" y="2895600"/>
                <a:ext cx="95250" cy="133350"/>
              </a:xfrm>
              <a:prstGeom prst="roundRect">
                <a:avLst>
                  <a:gd name="adj" fmla="val 20000"/>
                </a:avLst>
              </a:pr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8517255" y="3040380"/>
                <a:ext cx="15240" cy="1524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8745855" y="28832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移动填报闭环</a:t>
              </a:r>
              <a:endPara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210550" y="3362325"/>
              <a:ext cx="3295650" cy="609600"/>
            </a:xfrm>
            <a:prstGeom prst="roundRect">
              <a:avLst>
                <a:gd name="adj" fmla="val 12500"/>
              </a:avLst>
            </a:prstGeom>
            <a:noFill/>
            <a:ln w="9525">
              <a:solidFill>
                <a:srgbClr val="E8ECF0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8372475" y="3514725"/>
              <a:ext cx="304800" cy="3048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467725" y="36195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0" y="95250"/>
                  </a:lnTo>
                  <a:lnTo>
                    <a:pt x="114300" y="95250"/>
                  </a:lnTo>
                  <a:lnTo>
                    <a:pt x="114300" y="19050"/>
                  </a:lnTo>
                  <a:lnTo>
                    <a:pt x="38100" y="0"/>
                  </a:lnTo>
                  <a:lnTo>
                    <a:pt x="38100" y="38100"/>
                  </a:lnTo>
                  <a:lnTo>
                    <a:pt x="114300" y="47625"/>
                  </a:lnTo>
                </a:path>
              </a:pathLst>
            </a:custGeom>
            <a:noFill/>
            <a:ln w="12382" cap="rnd">
              <a:solidFill>
                <a:srgbClr val="FFFFF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45855" y="35880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工程档案管理</a:t>
              </a:r>
              <a:endPara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210550" y="4067175"/>
              <a:ext cx="3295650" cy="609600"/>
            </a:xfrm>
            <a:prstGeom prst="roundRect">
              <a:avLst>
                <a:gd name="adj" fmla="val 12500"/>
              </a:avLst>
            </a:prstGeom>
            <a:noFill/>
            <a:ln w="9525">
              <a:solidFill>
                <a:srgbClr val="E8ECF0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8372475" y="4219575"/>
              <a:ext cx="304800" cy="3048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458200" y="4295775"/>
              <a:ext cx="133350" cy="138112"/>
              <a:chOff x="8458200" y="4295775"/>
              <a:chExt cx="133350" cy="138112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8458200" y="4324350"/>
                <a:ext cx="133350" cy="85725"/>
              </a:xfrm>
              <a:prstGeom prst="roundRect">
                <a:avLst>
                  <a:gd name="adj" fmla="val 11111"/>
                </a:avLst>
              </a:prstGeom>
              <a:noFill/>
              <a:ln w="12382" cap="rnd">
                <a:solidFill>
                  <a:srgbClr val="FFFFFF"/>
                </a:solidFill>
                <a:round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8486775" y="4295775"/>
                <a:ext cx="76200" cy="38100"/>
              </a:xfrm>
              <a:prstGeom prst="roundRect">
                <a:avLst>
                  <a:gd name="adj" fmla="val 25000"/>
                </a:avLst>
              </a:prstGeom>
              <a:noFill/>
              <a:ln w="12382" cap="rnd">
                <a:solidFill>
                  <a:srgbClr val="FFFFFF"/>
                </a:solidFill>
                <a:round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8462962" y="4405312"/>
                <a:ext cx="28575" cy="28575"/>
              </a:xfrm>
              <a:prstGeom prst="ellipse">
                <a:avLst/>
              </a:prstGeom>
              <a:noFill/>
              <a:ln w="12382" cap="rnd">
                <a:solidFill>
                  <a:srgbClr val="FFFFFF"/>
                </a:solidFill>
                <a:round/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8558212" y="4405312"/>
                <a:ext cx="28575" cy="28575"/>
              </a:xfrm>
              <a:prstGeom prst="ellipse">
                <a:avLst/>
              </a:prstGeom>
              <a:noFill/>
              <a:ln w="12382" cap="rnd">
                <a:solidFill>
                  <a:srgbClr val="FFFFFF"/>
                </a:solidFill>
                <a:round/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8745855" y="42929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动态物流追踪</a:t>
              </a:r>
              <a:endPara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210550" y="4772025"/>
              <a:ext cx="3295650" cy="609600"/>
            </a:xfrm>
            <a:prstGeom prst="roundRect">
              <a:avLst>
                <a:gd name="adj" fmla="val 12500"/>
              </a:avLst>
            </a:prstGeom>
            <a:noFill/>
            <a:ln w="9525">
              <a:solidFill>
                <a:srgbClr val="E8ECF0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8372475" y="4924425"/>
              <a:ext cx="304800" cy="3048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8458200" y="5000625"/>
              <a:ext cx="133350" cy="152400"/>
              <a:chOff x="8458200" y="5000625"/>
              <a:chExt cx="133350" cy="152400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8458200" y="5038725"/>
                <a:ext cx="133350" cy="114300"/>
              </a:xfrm>
              <a:prstGeom prst="roundRect">
                <a:avLst>
                  <a:gd name="adj" fmla="val 12500"/>
                </a:avLst>
              </a:pr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81" name="Line 81"/>
              <p:cNvSpPr/>
              <p:nvPr/>
            </p:nvSpPr>
            <p:spPr>
              <a:xfrm>
                <a:off x="8458200" y="5000625"/>
                <a:ext cx="666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8100">
                    <a:moveTo>
                      <a:pt x="0" y="38100"/>
                    </a:moveTo>
                    <a:lnTo>
                      <a:pt x="66675" y="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  <p:sp>
            <p:nvSpPr>
              <p:cNvPr id="82" name="Line 82"/>
              <p:cNvSpPr/>
              <p:nvPr/>
            </p:nvSpPr>
            <p:spPr>
              <a:xfrm>
                <a:off x="8524875" y="5000625"/>
                <a:ext cx="666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8100">
                    <a:moveTo>
                      <a:pt x="0" y="0"/>
                    </a:moveTo>
                    <a:lnTo>
                      <a:pt x="66675" y="38100"/>
                    </a:lnTo>
                  </a:path>
                </a:pathLst>
              </a:custGeom>
              <a:noFill/>
              <a:ln w="12382" cap="rnd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8745855" y="4997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施工数字孪生</a:t>
              </a:r>
              <a:endPara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325344" y="6546056"/>
            <a:ext cx="1189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56" b="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"/>
            <a:ext cx="2095500" cy="285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12470" y="1293495"/>
            <a:ext cx="368750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五大场景深挖</a:t>
            </a:r>
            <a:endParaRPr lang="zh-CN" sz="3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905000"/>
            <a:ext cx="571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121"/>
              </a:gs>
              <a:gs pos="100000">
                <a:srgbClr val="E94057"/>
              </a:gs>
            </a:gsLst>
            <a:lin ang="0" scaled="1"/>
          </a:gra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66775" y="2533650"/>
            <a:ext cx="76200" cy="76200"/>
          </a:xfrm>
          <a:prstGeom prst="ellipse">
            <a:avLst/>
          </a:prstGeom>
          <a:solidFill>
            <a:srgbClr val="F2712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78230" y="2483168"/>
            <a:ext cx="37508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进度管理：多源数据比对 +移动端即时反馈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Ellipse 8"/>
          <p:cNvSpPr/>
          <p:nvPr/>
        </p:nvSpPr>
        <p:spPr>
          <a:xfrm>
            <a:off x="866775" y="3105150"/>
            <a:ext cx="76200" cy="76200"/>
          </a:xfrm>
          <a:prstGeom prst="ellipse">
            <a:avLst/>
          </a:prstGeom>
          <a:solidFill>
            <a:srgbClr val="F2712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8230" y="3054668"/>
            <a:ext cx="40860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质量安全：移动端巡检/整改闭环 + AI影像识别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Ellipse 10"/>
          <p:cNvSpPr/>
          <p:nvPr/>
        </p:nvSpPr>
        <p:spPr>
          <a:xfrm>
            <a:off x="866775" y="3676650"/>
            <a:ext cx="76200" cy="76200"/>
          </a:xfrm>
          <a:prstGeom prst="ellipse">
            <a:avLst/>
          </a:prstGeom>
          <a:solidFill>
            <a:srgbClr val="F2712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8230" y="3626168"/>
            <a:ext cx="52197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工程档案：数字员工自动归档 + 图纸版本管理 + 知识库检索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Ellipse 12"/>
          <p:cNvSpPr/>
          <p:nvPr/>
        </p:nvSpPr>
        <p:spPr>
          <a:xfrm>
            <a:off x="866775" y="4248150"/>
            <a:ext cx="76200" cy="76200"/>
          </a:xfrm>
          <a:prstGeom prst="ellipse">
            <a:avLst/>
          </a:prstGeom>
          <a:solidFill>
            <a:srgbClr val="F2712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78230" y="4197668"/>
            <a:ext cx="54169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采购物流：移动端物流管理 + 单证自动识别 + 物流全链路追踪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Ellipse 14"/>
          <p:cNvSpPr/>
          <p:nvPr/>
        </p:nvSpPr>
        <p:spPr>
          <a:xfrm>
            <a:off x="866775" y="4819650"/>
            <a:ext cx="76200" cy="76200"/>
          </a:xfrm>
          <a:prstGeom prst="ellipse">
            <a:avLst/>
          </a:prstGeom>
          <a:solidFill>
            <a:srgbClr val="F2712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78230" y="4769168"/>
            <a:ext cx="42240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施工数字孪生：360全景影像与BIM模型同步展示</a:t>
            </a:r>
            <a:endParaRPr lang="zh-CN" sz="13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99255" y="2266950"/>
            <a:ext cx="1746790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Mod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9000" b="1" dirty="0">
              <a:solidFill>
                <a:srgbClr val="FFFFFF">
                  <a:alphaMod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3478792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建设前现状痛点一览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33500"/>
            <a:ext cx="4000500" cy="5143500"/>
          </a:xfrm>
          <a:prstGeom prst="roundRect">
            <a:avLst>
              <a:gd name="adj" fmla="val 2857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523875" y="1333500"/>
            <a:ext cx="4000500" cy="5143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4762500" y="1333500"/>
            <a:ext cx="6905625" cy="914400"/>
          </a:xfrm>
          <a:prstGeom prst="roundRect">
            <a:avLst>
              <a:gd name="adj" fmla="val 8333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762500" y="133350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013008" y="1443514"/>
            <a:ext cx="16259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场景一 · 进度管理</a:t>
            </a:r>
            <a:endParaRPr lang="zh-CN" sz="12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54165" y="14678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线下分散，数据失真</a:t>
            </a:r>
            <a:endParaRPr lang="zh-CN" sz="10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5014912" y="1707356"/>
            <a:ext cx="4300537" cy="438150"/>
            <a:chOff x="5014912" y="1707356"/>
            <a:chExt cx="4300537" cy="438150"/>
          </a:xfrm>
        </p:grpSpPr>
        <p:sp>
          <p:nvSpPr>
            <p:cNvPr id="12" name="TextBox 12"/>
            <p:cNvSpPr txBox="1"/>
            <p:nvPr/>
          </p:nvSpPr>
          <p:spPr>
            <a:xfrm>
              <a:off x="5014912" y="1707356"/>
              <a:ext cx="3084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Excel/微信群/电话报进度，数据真伪难辨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14912" y="1916906"/>
              <a:ext cx="4300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各专业各自报，项目经理手动汇总，普华进度模块形同虚设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5" name="Rectangle 15"/>
          <p:cNvSpPr/>
          <p:nvPr/>
        </p:nvSpPr>
        <p:spPr>
          <a:xfrm>
            <a:off x="4762500" y="2324100"/>
            <a:ext cx="6905625" cy="914400"/>
          </a:xfrm>
          <a:prstGeom prst="roundRect">
            <a:avLst>
              <a:gd name="adj" fmla="val 8333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762500" y="232410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013008" y="2434114"/>
            <a:ext cx="16259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场景二 · 质量安全</a:t>
            </a:r>
            <a:endParaRPr lang="zh-CN" sz="12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654165" y="24584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微信闭环，资料散落</a:t>
            </a:r>
            <a:endParaRPr lang="zh-CN" sz="10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5014912" y="2697956"/>
            <a:ext cx="3807619" cy="438150"/>
            <a:chOff x="5014912" y="2697956"/>
            <a:chExt cx="3807619" cy="438150"/>
          </a:xfrm>
        </p:grpSpPr>
        <p:sp>
          <p:nvSpPr>
            <p:cNvPr id="19" name="TextBox 19"/>
            <p:cNvSpPr txBox="1"/>
            <p:nvPr/>
          </p:nvSpPr>
          <p:spPr>
            <a:xfrm>
              <a:off x="5014912" y="2697956"/>
              <a:ext cx="38076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举牌验收在微信群，纸质签章散落个人电脑无法检索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14912" y="2907506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整改闭环缺数据校验，五方主体无法统一线上平台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2" name="Rectangle 22"/>
          <p:cNvSpPr/>
          <p:nvPr/>
        </p:nvSpPr>
        <p:spPr>
          <a:xfrm>
            <a:off x="4762500" y="3314700"/>
            <a:ext cx="6905625" cy="914400"/>
          </a:xfrm>
          <a:prstGeom prst="roundRect">
            <a:avLst>
              <a:gd name="adj" fmla="val 8333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762500" y="331470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013008" y="3424714"/>
            <a:ext cx="16259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场景三 · 工程档案</a:t>
            </a:r>
            <a:endParaRPr lang="zh-CN" sz="12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654165" y="3449002"/>
            <a:ext cx="16445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信息沉睡，利用率 &lt; 10%</a:t>
            </a:r>
            <a:endParaRPr lang="zh-CN" sz="10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5014912" y="3688556"/>
            <a:ext cx="3807619" cy="438150"/>
            <a:chOff x="5014912" y="3688556"/>
            <a:chExt cx="3807619" cy="438150"/>
          </a:xfrm>
        </p:grpSpPr>
        <p:sp>
          <p:nvSpPr>
            <p:cNvPr id="26" name="TextBox 26"/>
            <p:cNvSpPr txBox="1"/>
            <p:nvPr/>
          </p:nvSpPr>
          <p:spPr>
            <a:xfrm>
              <a:off x="5014912" y="3688556"/>
              <a:ext cx="3314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档案长期保存在个人电脑，总部完全无法监管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4912" y="3898106"/>
              <a:ext cx="38076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版本混乱无法比对，归档目录无从查证，查询靠翻找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9" name="Rectangle 29"/>
          <p:cNvSpPr/>
          <p:nvPr/>
        </p:nvSpPr>
        <p:spPr>
          <a:xfrm>
            <a:off x="4762500" y="4305300"/>
            <a:ext cx="6905625" cy="914400"/>
          </a:xfrm>
          <a:prstGeom prst="roundRect">
            <a:avLst>
              <a:gd name="adj" fmla="val 8333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762500" y="430530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013008" y="4415314"/>
            <a:ext cx="16259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场景四 · 采购物流</a:t>
            </a:r>
            <a:endParaRPr lang="zh-CN" sz="12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654165" y="44396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静态存档，发货后失联</a:t>
            </a:r>
            <a:endParaRPr lang="zh-CN" sz="10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5014912" y="4679156"/>
            <a:ext cx="4300537" cy="438150"/>
            <a:chOff x="5014912" y="4679156"/>
            <a:chExt cx="4300537" cy="438150"/>
          </a:xfrm>
        </p:grpSpPr>
        <p:sp>
          <p:nvSpPr>
            <p:cNvPr id="33" name="TextBox 33"/>
            <p:cNvSpPr txBox="1"/>
            <p:nvPr/>
          </p:nvSpPr>
          <p:spPr>
            <a:xfrm>
              <a:off x="5014912" y="4679156"/>
              <a:ext cx="4300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普华仅管采购前期，发货后全部线下，海外物流靠人工询问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14912" y="4888706"/>
              <a:ext cx="4062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7类单据散落，到货风险滞后发现，施工计划与物料脱节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6" name="Rectangle 36"/>
          <p:cNvSpPr/>
          <p:nvPr/>
        </p:nvSpPr>
        <p:spPr>
          <a:xfrm>
            <a:off x="4762500" y="5295900"/>
            <a:ext cx="6905625" cy="914400"/>
          </a:xfrm>
          <a:prstGeom prst="roundRect">
            <a:avLst>
              <a:gd name="adj" fmla="val 8333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4762500" y="529590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013008" y="5405914"/>
            <a:ext cx="2016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场景五 · 施工数字孪生</a:t>
            </a:r>
            <a:endParaRPr lang="zh-CN" sz="12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654165" y="54302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模型摆设，虚实脱节</a:t>
            </a:r>
            <a:endParaRPr lang="zh-CN" sz="10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5014912" y="5669756"/>
            <a:ext cx="3971925" cy="438150"/>
            <a:chOff x="5014912" y="5669756"/>
            <a:chExt cx="3971925" cy="438150"/>
          </a:xfrm>
        </p:grpSpPr>
        <p:sp>
          <p:nvSpPr>
            <p:cNvPr id="40" name="TextBox 40"/>
            <p:cNvSpPr txBox="1"/>
            <p:nvPr/>
          </p:nvSpPr>
          <p:spPr>
            <a:xfrm>
              <a:off x="5014912" y="5669756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三维模型施工期束之高阁，数据离场即失无法在线溯源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14912" y="5879306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缺陷隐患靠肉眼查看，漏检率高，缺乏数字化证据留存</a:t>
              </a:r>
              <a:endParaRPr lang="zh-CN" sz="11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Rectangle 43"/>
          <p:cNvSpPr/>
          <p:nvPr/>
        </p:nvSpPr>
        <p:spPr>
          <a:xfrm>
            <a:off x="523875" y="6334125"/>
            <a:ext cx="11144250" cy="342900"/>
          </a:xfrm>
          <a:prstGeom prst="roundRect">
            <a:avLst>
              <a:gd name="adj" fmla="val 22222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725266" y="6433185"/>
            <a:ext cx="47414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共同特征：线下 · 碎片 · 不可检索 · 不可比对 · 不可追溯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325344" y="6546056"/>
            <a:ext cx="1189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5376529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场景一：进度管理 — AI穿透洞察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33500"/>
            <a:ext cx="5143500" cy="3619500"/>
          </a:xfrm>
          <a:prstGeom prst="roundRect">
            <a:avLst>
              <a:gd name="adj" fmla="val 2632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rcRect t="3086" b="3086"/>
          <a:stretch>
            <a:fillRect/>
          </a:stretch>
        </p:blipFill>
        <p:spPr>
          <a:xfrm>
            <a:off x="523875" y="1333500"/>
            <a:ext cx="5143500" cy="3619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953125" y="1333500"/>
            <a:ext cx="5715000" cy="3619500"/>
          </a:xfrm>
          <a:prstGeom prst="roundRect">
            <a:avLst>
              <a:gd name="adj" fmla="val 2632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953125" y="1333500"/>
            <a:ext cx="5715000" cy="419100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018449" y="1422082"/>
            <a:ext cx="35843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建设后 — 多源整合，AI穿透洞察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191250" y="1943100"/>
            <a:ext cx="1143000" cy="523875"/>
          </a:xfrm>
          <a:prstGeom prst="roundRect">
            <a:avLst>
              <a:gd name="adj" fmla="val 10909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204642" y="2042160"/>
            <a:ext cx="11162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Project 文件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296216" y="2251710"/>
            <a:ext cx="9330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 自动解析</a:t>
            </a:r>
            <a:endParaRPr lang="zh-CN" sz="120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7477125" y="1943100"/>
            <a:ext cx="1143000" cy="523875"/>
          </a:xfrm>
          <a:prstGeom prst="roundRect">
            <a:avLst>
              <a:gd name="adj" fmla="val 10909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665339" y="20421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施工日志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82090" y="2251710"/>
            <a:ext cx="9330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 提取进度</a:t>
            </a:r>
            <a:endParaRPr lang="zh-CN" sz="120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8763000" y="1943100"/>
            <a:ext cx="1143000" cy="523875"/>
          </a:xfrm>
          <a:prstGeom prst="roundRect">
            <a:avLst>
              <a:gd name="adj" fmla="val 10909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955815" y="2042160"/>
            <a:ext cx="7573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360 全景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968740" y="22517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形象进度</a:t>
            </a:r>
            <a:endParaRPr lang="zh-CN" sz="120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10048875" y="1943100"/>
            <a:ext cx="1381125" cy="523875"/>
          </a:xfrm>
          <a:prstGeom prst="roundRect">
            <a:avLst>
              <a:gd name="adj" fmla="val 10909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355990" y="2042160"/>
            <a:ext cx="7573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APP 汇报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68141" y="2251710"/>
            <a:ext cx="9330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拍照 + 语音</a:t>
            </a:r>
            <a:endParaRPr lang="zh-CN" sz="120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6762750" y="247650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D0D8E0"/>
            </a:solidFill>
          </a:ln>
        </p:spPr>
      </p:sp>
      <p:sp>
        <p:nvSpPr>
          <p:cNvPr id="24" name="Line 24"/>
          <p:cNvSpPr/>
          <p:nvPr/>
        </p:nvSpPr>
        <p:spPr>
          <a:xfrm>
            <a:off x="8048625" y="247650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D0D8E0"/>
            </a:solidFill>
          </a:ln>
        </p:spPr>
      </p:sp>
      <p:sp>
        <p:nvSpPr>
          <p:cNvPr id="25" name="Line 25"/>
          <p:cNvSpPr/>
          <p:nvPr/>
        </p:nvSpPr>
        <p:spPr>
          <a:xfrm>
            <a:off x="9334500" y="247650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D0D8E0"/>
            </a:solidFill>
          </a:ln>
        </p:spPr>
      </p:sp>
      <p:sp>
        <p:nvSpPr>
          <p:cNvPr id="26" name="Line 26"/>
          <p:cNvSpPr/>
          <p:nvPr/>
        </p:nvSpPr>
        <p:spPr>
          <a:xfrm>
            <a:off x="10734675" y="247650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D0D8E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381750" y="2762250"/>
            <a:ext cx="4857750" cy="419100"/>
          </a:xfrm>
          <a:prstGeom prst="roundRect">
            <a:avLst>
              <a:gd name="adj" fmla="val 50000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295598" y="2899410"/>
            <a:ext cx="30300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 智能比对引擎 — 多源数据交叉校验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8810625" y="3181350"/>
            <a:ext cx="9525" cy="200025"/>
          </a:xfrm>
          <a:custGeom>
            <a:avLst/>
            <a:gdLst/>
            <a:ahLst/>
            <a:cxnLst/>
            <a:rect l="l" t="t" r="r" b="b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4288">
            <a:solidFill>
              <a:srgbClr val="1A3A7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191250" y="3448050"/>
            <a:ext cx="1600200" cy="590550"/>
          </a:xfrm>
          <a:prstGeom prst="roundRect">
            <a:avLst>
              <a:gd name="adj" fmla="val 9677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877050" y="3600450"/>
            <a:ext cx="228600" cy="2286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6934200" y="379095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33" name="Line 33"/>
          <p:cNvSpPr/>
          <p:nvPr/>
        </p:nvSpPr>
        <p:spPr>
          <a:xfrm>
            <a:off x="6972300" y="367665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972300" y="3743325"/>
            <a:ext cx="19050" cy="476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010400" y="3695700"/>
            <a:ext cx="19050" cy="9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7048500" y="3724275"/>
            <a:ext cx="19050" cy="666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332030" y="38519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多源比对甘特图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7915275" y="3448050"/>
            <a:ext cx="1600200" cy="590550"/>
          </a:xfrm>
          <a:prstGeom prst="roundRect">
            <a:avLst>
              <a:gd name="adj" fmla="val 9677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8601075" y="3600450"/>
            <a:ext cx="228600" cy="2286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8658225" y="3657600"/>
            <a:ext cx="114300" cy="114300"/>
          </a:xfrm>
          <a:prstGeom prst="ellipse">
            <a:avLst/>
          </a:prstGeom>
          <a:noFill/>
          <a:ln w="11430">
            <a:solidFill>
              <a:srgbClr val="FFFFFF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8696325" y="369570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964043" y="38519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里程碑偏差自动算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9639300" y="3448050"/>
            <a:ext cx="1790700" cy="590550"/>
          </a:xfrm>
          <a:prstGeom prst="roundRect">
            <a:avLst>
              <a:gd name="adj" fmla="val 9677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44" name="Ellipse 44"/>
          <p:cNvSpPr/>
          <p:nvPr/>
        </p:nvSpPr>
        <p:spPr>
          <a:xfrm>
            <a:off x="10325100" y="3600450"/>
            <a:ext cx="228600" cy="2286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sp>
        <p:nvSpPr>
          <p:cNvPr id="45" name="Polygon 45"/>
          <p:cNvSpPr/>
          <p:nvPr/>
        </p:nvSpPr>
        <p:spPr>
          <a:xfrm>
            <a:off x="10382250" y="3638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38100"/>
                </a:moveTo>
                <a:lnTo>
                  <a:pt x="57150" y="0"/>
                </a:lnTo>
                <a:lnTo>
                  <a:pt x="114300" y="38100"/>
                </a:lnTo>
                <a:lnTo>
                  <a:pt x="114300" y="114300"/>
                </a:lnTo>
                <a:lnTo>
                  <a:pt x="57150" y="152400"/>
                </a:lnTo>
                <a:lnTo>
                  <a:pt x="0" y="114300"/>
                </a:lnTo>
                <a:close/>
              </a:path>
            </a:pathLst>
          </a:custGeom>
          <a:noFill/>
          <a:ln w="11430">
            <a:solidFill>
              <a:srgbClr val="FFFFFF"/>
            </a:solidFill>
            <a:round/>
          </a:ln>
        </p:spPr>
      </p:sp>
      <p:sp>
        <p:nvSpPr>
          <p:cNvPr id="46" name="TextBox 46"/>
          <p:cNvSpPr txBox="1"/>
          <p:nvPr/>
        </p:nvSpPr>
        <p:spPr>
          <a:xfrm>
            <a:off x="9780080" y="38519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偏差超阈值预警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6191250" y="4191000"/>
            <a:ext cx="5238750" cy="342900"/>
          </a:xfrm>
          <a:prstGeom prst="roundRect">
            <a:avLst>
              <a:gd name="adj" fmla="val 22222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835540" y="4290060"/>
            <a:ext cx="3950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一句话掌握全局 · 报进度有依据 · 算工期有底气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523875" y="5219700"/>
            <a:ext cx="11144250" cy="419100"/>
          </a:xfrm>
          <a:prstGeom prst="roundRect">
            <a:avLst>
              <a:gd name="adj" fmla="val 18182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44855" y="53501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核心能力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87" name="Group 87"/>
          <p:cNvGrpSpPr/>
          <p:nvPr/>
        </p:nvGrpSpPr>
        <p:grpSpPr>
          <a:xfrm>
            <a:off x="714375" y="5791200"/>
            <a:ext cx="10763250" cy="857250"/>
            <a:chOff x="714375" y="5791200"/>
            <a:chExt cx="10763250" cy="857250"/>
          </a:xfrm>
        </p:grpSpPr>
        <p:sp>
          <p:nvSpPr>
            <p:cNvPr id="51" name="Rectangle 51"/>
            <p:cNvSpPr/>
            <p:nvPr/>
          </p:nvSpPr>
          <p:spPr>
            <a:xfrm>
              <a:off x="714375" y="5791200"/>
              <a:ext cx="2076450" cy="857250"/>
            </a:xfrm>
            <a:prstGeom prst="roundRect">
              <a:avLst>
                <a:gd name="adj" fmla="val 6667"/>
              </a:avLst>
            </a:prstGeom>
            <a:noFill/>
            <a:ln w="9525">
              <a:solidFill>
                <a:srgbClr val="D0D8E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04875" y="5962650"/>
              <a:ext cx="114300" cy="114300"/>
            </a:xfrm>
            <a:prstGeom prst="roundRect">
              <a:avLst>
                <a:gd name="adj" fmla="val 12500"/>
              </a:avLst>
            </a:prstGeom>
            <a:noFill/>
            <a:ln w="11430">
              <a:solidFill>
                <a:srgbClr val="1A3A7A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23925" y="60007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7620">
              <a:solidFill>
                <a:srgbClr val="1A3A7A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923925" y="60388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7620">
              <a:solidFill>
                <a:srgbClr val="1A3A7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08710" y="587121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里程碑级进度管理</a:t>
              </a:r>
              <a:endPara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9662" y="610790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关键节点，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9662" y="626030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不做细粒度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886075" y="5791200"/>
              <a:ext cx="2076450" cy="857250"/>
            </a:xfrm>
            <a:prstGeom prst="roundRect">
              <a:avLst>
                <a:gd name="adj" fmla="val 6667"/>
              </a:avLst>
            </a:prstGeom>
            <a:noFill/>
            <a:ln w="9525">
              <a:solidFill>
                <a:srgbClr val="D0D8E0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3143250" y="5934075"/>
              <a:ext cx="95250" cy="47625"/>
            </a:xfrm>
            <a:custGeom>
              <a:avLst/>
              <a:gdLst/>
              <a:ahLst/>
              <a:cxnLst/>
              <a:rect l="l" t="t" r="r" b="b"/>
              <a:pathLst>
                <a:path w="95250" h="47625">
                  <a:moveTo>
                    <a:pt x="0" y="47625"/>
                  </a:moveTo>
                  <a:cubicBezTo>
                    <a:pt x="0" y="21322"/>
                    <a:pt x="21322" y="0"/>
                    <a:pt x="47625" y="0"/>
                  </a:cubicBezTo>
                  <a:cubicBezTo>
                    <a:pt x="73928" y="0"/>
                    <a:pt x="95250" y="21322"/>
                    <a:pt x="95250" y="47625"/>
                  </a:cubicBezTo>
                </a:path>
              </a:pathLst>
            </a:custGeom>
            <a:noFill/>
            <a:ln w="12382" cap="rnd">
              <a:solidFill>
                <a:srgbClr val="1A3A7A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3209925" y="5981700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28575" y="0"/>
                  </a:moveTo>
                  <a:lnTo>
                    <a:pt x="0" y="38100"/>
                  </a:lnTo>
                  <a:lnTo>
                    <a:pt x="57150" y="38100"/>
                  </a:lnTo>
                  <a:close/>
                </a:path>
              </a:pathLst>
            </a:custGeom>
            <a:solidFill>
              <a:srgbClr val="1A3A7A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3143250" y="6076950"/>
              <a:ext cx="95250" cy="47625"/>
            </a:xfrm>
            <a:custGeom>
              <a:avLst/>
              <a:gdLst/>
              <a:ahLst/>
              <a:cxnLst/>
              <a:rect l="l" t="t" r="r" b="b"/>
              <a:pathLst>
                <a:path w="95250" h="47625">
                  <a:moveTo>
                    <a:pt x="95250" y="0"/>
                  </a:moveTo>
                  <a:cubicBezTo>
                    <a:pt x="95250" y="26303"/>
                    <a:pt x="73928" y="47625"/>
                    <a:pt x="47625" y="47625"/>
                  </a:cubicBezTo>
                  <a:cubicBezTo>
                    <a:pt x="21322" y="47625"/>
                    <a:pt x="0" y="26303"/>
                    <a:pt x="0" y="0"/>
                  </a:cubicBezTo>
                </a:path>
              </a:pathLst>
            </a:custGeom>
            <a:noFill/>
            <a:ln w="12382" cap="rnd">
              <a:solidFill>
                <a:srgbClr val="1A3A7A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3114675" y="6038850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28575" y="38100"/>
                  </a:move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A3A7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347085" y="58712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多源数据比对</a:t>
              </a:r>
              <a:endPara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348038" y="61079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专业层反馈，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348038" y="62603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系统自动汇总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057775" y="5791200"/>
              <a:ext cx="2076450" cy="857250"/>
            </a:xfrm>
            <a:prstGeom prst="roundRect">
              <a:avLst>
                <a:gd name="adj" fmla="val 6667"/>
              </a:avLst>
            </a:prstGeom>
            <a:noFill/>
            <a:ln w="9525">
              <a:solidFill>
                <a:srgbClr val="D0D8E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248275" y="5962650"/>
              <a:ext cx="114300" cy="85725"/>
            </a:xfrm>
            <a:prstGeom prst="roundRect">
              <a:avLst>
                <a:gd name="adj" fmla="val 16667"/>
              </a:avLst>
            </a:prstGeom>
            <a:noFill/>
            <a:ln w="11430">
              <a:solidFill>
                <a:srgbClr val="1A3A7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5281612" y="5976938"/>
              <a:ext cx="47625" cy="47625"/>
            </a:xfrm>
            <a:prstGeom prst="ellipse">
              <a:avLst/>
            </a:prstGeom>
            <a:noFill/>
            <a:ln w="9525">
              <a:solidFill>
                <a:srgbClr val="1A3A7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90210" y="5871210"/>
              <a:ext cx="12266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360° 形象进度</a:t>
              </a:r>
              <a:endPara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491162" y="6107906"/>
              <a:ext cx="1137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全景相机 + BIM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491162" y="626030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左右屏比对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229475" y="5791200"/>
              <a:ext cx="2076450" cy="857250"/>
            </a:xfrm>
            <a:prstGeom prst="roundRect">
              <a:avLst>
                <a:gd name="adj" fmla="val 6667"/>
              </a:avLst>
            </a:prstGeom>
            <a:noFill/>
            <a:ln w="9525">
              <a:solidFill>
                <a:srgbClr val="D0D8E0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7467600" y="5981700"/>
              <a:ext cx="95250" cy="114300"/>
            </a:xfrm>
            <a:prstGeom prst="ellipse">
              <a:avLst/>
            </a:prstGeom>
            <a:noFill/>
            <a:ln w="11430">
              <a:solidFill>
                <a:srgbClr val="1A3A7A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7486650" y="6010275"/>
              <a:ext cx="57150" cy="19050"/>
            </a:xfrm>
            <a:custGeom>
              <a:avLst/>
              <a:gdLst/>
              <a:ahLst/>
              <a:cxnLst/>
              <a:rect l="l" t="t" r="r" b="b"/>
              <a:pathLst>
                <a:path w="57150" h="19050">
                  <a:moveTo>
                    <a:pt x="0" y="0"/>
                  </a:moveTo>
                  <a:lnTo>
                    <a:pt x="19050" y="19050"/>
                  </a:lnTo>
                  <a:lnTo>
                    <a:pt x="38100" y="0"/>
                  </a:lnTo>
                  <a:lnTo>
                    <a:pt x="57150" y="19050"/>
                  </a:lnTo>
                </a:path>
              </a:pathLst>
            </a:custGeom>
            <a:noFill/>
            <a:ln w="8572">
              <a:solidFill>
                <a:srgbClr val="1A3A7A"/>
              </a:solidFill>
              <a:round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61910" y="5871210"/>
              <a:ext cx="1751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解析 Project 文件</a:t>
              </a:r>
              <a:endPara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62862" y="6107906"/>
              <a:ext cx="1203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自动提取 WBS，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62862" y="62603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变更对比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401175" y="5791200"/>
              <a:ext cx="2076450" cy="857250"/>
            </a:xfrm>
            <a:prstGeom prst="roundRect">
              <a:avLst>
                <a:gd name="adj" fmla="val 6667"/>
              </a:avLst>
            </a:prstGeom>
            <a:noFill/>
            <a:ln w="9525">
              <a:solidFill>
                <a:srgbClr val="D0D8E0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9591675" y="606742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7620">
              <a:solidFill>
                <a:srgbClr val="1A3A7A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9620250" y="59817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7620">
              <a:solidFill>
                <a:srgbClr val="1A3A7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9610725" y="6019800"/>
              <a:ext cx="19050" cy="47625"/>
            </a:xfrm>
            <a:prstGeom prst="rect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648825" y="5981700"/>
              <a:ext cx="19050" cy="85725"/>
            </a:xfrm>
            <a:prstGeom prst="rect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686925" y="6000750"/>
              <a:ext cx="19050" cy="66675"/>
            </a:xfrm>
            <a:prstGeom prst="rect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833610" y="587121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多源比对驾驶舱</a:t>
              </a:r>
              <a:endPara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834562" y="61079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偏差自动标注，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834562" y="62603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一目了然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6894719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进度比对案例：新兴县循环经济环保项目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46760" y="1442085"/>
            <a:ext cx="24503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移动端进度管理 &amp; 甘特图比对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rcRect l="2311" r="2311"/>
          <a:stretch>
            <a:fillRect/>
          </a:stretch>
        </p:blipFill>
        <p:spPr>
          <a:xfrm>
            <a:off x="476250" y="1809750"/>
            <a:ext cx="1762125" cy="4000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278166" y="3742372"/>
            <a:ext cx="20616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950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2619375" y="1809750"/>
            <a:ext cx="4905375" cy="4000500"/>
          </a:xfrm>
          <a:prstGeom prst="roundRect">
            <a:avLst>
              <a:gd name="adj" fmla="val 2381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259215"/>
            <a:ext cx="4667250" cy="3120621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762875" y="1381125"/>
            <a:ext cx="4000500" cy="5381625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9525">
            <a:solidFill>
              <a:srgbClr val="E5E8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695324" y="1625918"/>
            <a:ext cx="21356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 智能体交叉比对发现</a:t>
            </a:r>
            <a:endParaRPr lang="zh-CN" sz="1350" b="1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7924800" y="2000250"/>
            <a:ext cx="36766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F5F7F9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7962900" y="2190750"/>
            <a:ext cx="419100" cy="419100"/>
          </a:xfrm>
          <a:prstGeom prst="ellipse">
            <a:avLst/>
          </a:prstGeom>
          <a:solidFill>
            <a:srgbClr val="607D8B">
              <a:alpha val="8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126929" y="2319814"/>
            <a:ext cx="910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459152" y="2227421"/>
            <a:ext cx="25492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最大延期：综合楼 +355天</a:t>
            </a:r>
            <a:endParaRPr lang="zh-CN" sz="142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62962" y="2488406"/>
            <a:ext cx="31421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计划完工 2025/8/31 → 实际延至 2026年1月</a:t>
            </a:r>
            <a:endParaRPr lang="zh-CN" sz="1125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7924800" y="3028950"/>
            <a:ext cx="36766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F5F7F9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7962900" y="3219450"/>
            <a:ext cx="419100" cy="419100"/>
          </a:xfrm>
          <a:prstGeom prst="ellipse">
            <a:avLst/>
          </a:prstGeom>
          <a:solidFill>
            <a:srgbClr val="607D8B">
              <a:alpha val="8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102488" y="3348514"/>
            <a:ext cx="1399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459152" y="325612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提前完工</a:t>
            </a:r>
            <a:endParaRPr lang="zh-CN" sz="142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462962" y="3517106"/>
            <a:ext cx="3552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渣坑 -292天 · 卸料大厅 -196天 · 桩基工程 -5天</a:t>
            </a:r>
            <a:endParaRPr lang="zh-CN" sz="1125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7924800" y="4057650"/>
            <a:ext cx="36766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F5F7F9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7962900" y="4248150"/>
            <a:ext cx="419100" cy="419100"/>
          </a:xfrm>
          <a:prstGeom prst="ellipse">
            <a:avLst/>
          </a:prstGeom>
          <a:solidFill>
            <a:srgbClr val="94A3B8">
              <a:alpha val="8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02488" y="4377214"/>
            <a:ext cx="1399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275" b="1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459152" y="4284821"/>
            <a:ext cx="11288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其他延期项</a:t>
            </a:r>
            <a:endParaRPr lang="zh-CN" sz="1425" b="1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462962" y="4545806"/>
            <a:ext cx="26821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边坡支护 +303天 · 取水工程 +249天</a:t>
            </a:r>
            <a:endParaRPr lang="zh-CN" sz="1125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7924800" y="5086350"/>
            <a:ext cx="3676650" cy="400050"/>
          </a:xfrm>
          <a:prstGeom prst="roundRect">
            <a:avLst>
              <a:gd name="adj" fmla="val 19048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775377" y="5220652"/>
            <a:ext cx="39754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交叉比对来源：离线Project × 项目月报 → AI多源交叉校验</a:t>
            </a:r>
            <a:endParaRPr lang="zh-CN" sz="10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317129" y="6546056"/>
            <a:ext cx="1271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7008583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场景二：质量安全 — 在线归档 + 渐进闭环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33500"/>
            <a:ext cx="3810000" cy="2952750"/>
          </a:xfrm>
          <a:prstGeom prst="roundRect">
            <a:avLst>
              <a:gd name="adj" fmla="val 3226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rcRect l="1613" r="1613"/>
          <a:stretch>
            <a:fillRect/>
          </a:stretch>
        </p:blipFill>
        <p:spPr>
          <a:xfrm>
            <a:off x="523875" y="1333500"/>
            <a:ext cx="3810000" cy="295275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4524375" y="1333500"/>
            <a:ext cx="3524250" cy="2952750"/>
          </a:xfrm>
          <a:prstGeom prst="roundRect">
            <a:avLst>
              <a:gd name="adj" fmla="val 2581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524375" y="1333500"/>
            <a:ext cx="3524250" cy="400050"/>
          </a:xfrm>
          <a:prstGeom prst="roundRect">
            <a:avLst>
              <a:gd name="adj" fmla="val 19048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260104" y="1454468"/>
            <a:ext cx="20527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 1 · 线上归档为主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47260" y="182308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不改变一线习惯，数据自然沉淀</a:t>
            </a:r>
            <a:endParaRPr lang="zh-CN" sz="120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4743450" y="2168842"/>
            <a:ext cx="3124200" cy="1545908"/>
            <a:chOff x="4743450" y="2168842"/>
            <a:chExt cx="3124200" cy="1545908"/>
          </a:xfrm>
        </p:grpSpPr>
        <p:sp>
          <p:nvSpPr>
            <p:cNvPr id="12" name="Ellipse 12"/>
            <p:cNvSpPr/>
            <p:nvPr/>
          </p:nvSpPr>
          <p:spPr>
            <a:xfrm>
              <a:off x="4743450" y="2171700"/>
              <a:ext cx="190500" cy="1905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95857" y="218503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31105" y="2168842"/>
              <a:ext cx="28242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微信群照片 → 数字员工自动归档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33010" y="2366010"/>
              <a:ext cx="22738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Vision识别 + OCR，永久留存</a:t>
              </a:r>
              <a:endParaRPr lang="zh-CN" sz="120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4743450" y="2724150"/>
              <a:ext cx="190500" cy="1905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72854" y="27374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31105" y="2721292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纸质签章单 → OCR + AI填表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33010" y="29184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不改变签字习惯，数据自动进入系统</a:t>
              </a:r>
              <a:endParaRPr lang="zh-CN" sz="120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4743450" y="3276600"/>
              <a:ext cx="190500" cy="1905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72854" y="32899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31105" y="3273742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材料送检跟踪，超期自动提醒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33010" y="3470910"/>
              <a:ext cx="18619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检测报告 OCR 提取结果</a:t>
              </a:r>
              <a:endParaRPr lang="zh-CN" sz="120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Rectangle 25"/>
          <p:cNvSpPr/>
          <p:nvPr/>
        </p:nvSpPr>
        <p:spPr>
          <a:xfrm>
            <a:off x="8239125" y="1333500"/>
            <a:ext cx="3429000" cy="2952750"/>
          </a:xfrm>
          <a:prstGeom prst="roundRect">
            <a:avLst>
              <a:gd name="adj" fmla="val 2581"/>
            </a:avLst>
          </a:prstGeom>
          <a:solidFill>
            <a:srgbClr val="F5F7F9"/>
          </a:solidFill>
          <a:ln w="9525">
            <a:solidFill>
              <a:srgbClr val="F5D8C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239125" y="133350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901351" y="145446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 2 · 逐步推动闭环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462010" y="182308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条件成熟后，推动全流程线上化</a:t>
            </a:r>
            <a:endParaRPr lang="zh-CN" sz="120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8458200" y="2168842"/>
            <a:ext cx="2944273" cy="1545908"/>
            <a:chOff x="8458200" y="2168842"/>
            <a:chExt cx="2944273" cy="1545908"/>
          </a:xfrm>
        </p:grpSpPr>
        <p:sp>
          <p:nvSpPr>
            <p:cNvPr id="29" name="Ellipse 29"/>
            <p:cNvSpPr/>
            <p:nvPr/>
          </p:nvSpPr>
          <p:spPr>
            <a:xfrm>
              <a:off x="8458200" y="2171700"/>
              <a:ext cx="190500" cy="1905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10607" y="218503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45855" y="2168842"/>
              <a:ext cx="26270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巡检发现问题 → 指派整改任务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47760" y="236601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可指定责任人、期限、关联合同</a:t>
              </a:r>
              <a:endParaRPr lang="zh-CN" sz="120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Ellipse 33"/>
            <p:cNvSpPr/>
            <p:nvPr/>
          </p:nvSpPr>
          <p:spPr>
            <a:xfrm>
              <a:off x="8458200" y="2724150"/>
              <a:ext cx="190500" cy="1905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87604" y="27374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45855" y="2721292"/>
              <a:ext cx="22327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整改到位 → 拍照对比审核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47760" y="29184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整改前后照片自动关联对比</a:t>
              </a:r>
              <a:endParaRPr lang="zh-CN" sz="120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Ellipse 37"/>
            <p:cNvSpPr/>
            <p:nvPr/>
          </p:nvSpPr>
          <p:spPr>
            <a:xfrm>
              <a:off x="8458200" y="3276600"/>
              <a:ext cx="190500" cy="1905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87604" y="32899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45855" y="3273742"/>
              <a:ext cx="26566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验收通过 → 闭环归档 + 驾驶舱</a:t>
              </a:r>
              <a:endPara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47760" y="3470910"/>
              <a:ext cx="25366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问题类型统计 · 整改率 · 通过率</a:t>
              </a:r>
              <a:endParaRPr lang="zh-CN" sz="120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2" name="Rectangle 42"/>
          <p:cNvSpPr/>
          <p:nvPr/>
        </p:nvSpPr>
        <p:spPr>
          <a:xfrm>
            <a:off x="523875" y="4524375"/>
            <a:ext cx="11144250" cy="381000"/>
          </a:xfrm>
          <a:prstGeom prst="roundRect">
            <a:avLst>
              <a:gd name="adj" fmla="val 20000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44855" y="46262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核心能力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86" name="Group 86"/>
          <p:cNvGrpSpPr/>
          <p:nvPr/>
        </p:nvGrpSpPr>
        <p:grpSpPr>
          <a:xfrm>
            <a:off x="714375" y="5067300"/>
            <a:ext cx="10810875" cy="523875"/>
            <a:chOff x="714375" y="5067300"/>
            <a:chExt cx="10810875" cy="523875"/>
          </a:xfrm>
        </p:grpSpPr>
        <p:sp>
          <p:nvSpPr>
            <p:cNvPr id="44" name="Rectangle 44"/>
            <p:cNvSpPr/>
            <p:nvPr/>
          </p:nvSpPr>
          <p:spPr>
            <a:xfrm>
              <a:off x="714375" y="50673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19150" y="51816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95350" y="5248275"/>
              <a:ext cx="114300" cy="133350"/>
              <a:chOff x="895350" y="5248275"/>
              <a:chExt cx="114300" cy="1333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95350" y="5248275"/>
                <a:ext cx="114300" cy="133350"/>
              </a:xfrm>
              <a:prstGeom prst="roundRect">
                <a:avLst>
                  <a:gd name="adj" fmla="val 12500"/>
                </a:avLst>
              </a:pr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923925" y="52863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923925" y="5314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923925" y="53435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146810" y="515683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巡检问题记录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6810" y="5347335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AI结构化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905125" y="50673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3009900" y="51816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076575" y="5229225"/>
              <a:ext cx="133350" cy="133350"/>
              <a:chOff x="3076575" y="5229225"/>
              <a:chExt cx="133350" cy="1333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3076575" y="5267325"/>
                <a:ext cx="133350" cy="95250"/>
              </a:xfrm>
              <a:prstGeom prst="roundRect">
                <a:avLst>
                  <a:gd name="adj" fmla="val 20000"/>
                </a:avLst>
              </a:pr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56" name="Polyline 56"/>
              <p:cNvSpPr/>
              <p:nvPr/>
            </p:nvSpPr>
            <p:spPr>
              <a:xfrm>
                <a:off x="3076575" y="5229225"/>
                <a:ext cx="1333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38100">
                    <a:moveTo>
                      <a:pt x="0" y="38100"/>
                    </a:moveTo>
                    <a:lnTo>
                      <a:pt x="66675" y="0"/>
                    </a:lnTo>
                    <a:lnTo>
                      <a:pt x="133350" y="3810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337560" y="51568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数字员工验收归档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337560" y="53473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永久留存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095875" y="50673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5200650" y="51816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276850" y="5248275"/>
              <a:ext cx="114300" cy="133350"/>
              <a:chOff x="5276850" y="5248275"/>
              <a:chExt cx="114300" cy="13335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5276850" y="5248275"/>
                <a:ext cx="114300" cy="133350"/>
              </a:xfrm>
              <a:prstGeom prst="roundRect">
                <a:avLst>
                  <a:gd name="adj" fmla="val 12500"/>
                </a:avLst>
              </a:pr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5305425" y="52768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5305425" y="53054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5305425" y="53340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5305425" y="53625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5528310" y="51568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AI辅助填表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528310" y="5347335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OCR识别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286625" y="50673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7391400" y="51816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458075" y="5248275"/>
              <a:ext cx="133350" cy="133350"/>
              <a:chOff x="7458075" y="5248275"/>
              <a:chExt cx="133350" cy="133350"/>
            </a:xfrm>
          </p:grpSpPr>
          <p:sp>
            <p:nvSpPr>
              <p:cNvPr id="72" name="Ellipse 72"/>
              <p:cNvSpPr/>
              <p:nvPr/>
            </p:nvSpPr>
            <p:spPr>
              <a:xfrm>
                <a:off x="7458075" y="5248275"/>
                <a:ext cx="133350" cy="133350"/>
              </a:xfrm>
              <a:prstGeom prst="ellipse">
                <a:avLst/>
              </a:pr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7524750" y="52768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7524750" y="531495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719060" y="515683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材料送检跟踪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19060" y="53473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超期提醒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477375" y="50673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9582150" y="51816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9648825" y="5238750"/>
              <a:ext cx="133350" cy="123825"/>
              <a:chOff x="9648825" y="5238750"/>
              <a:chExt cx="133350" cy="123825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9648825" y="5267325"/>
                <a:ext cx="133350" cy="95250"/>
              </a:xfrm>
              <a:prstGeom prst="roundRect">
                <a:avLst>
                  <a:gd name="adj" fmla="val 15000"/>
                </a:avLst>
              </a:prstGeom>
              <a:noFill/>
              <a:ln w="11430" cap="rnd">
                <a:solidFill>
                  <a:srgbClr val="FFFFFF"/>
                </a:solidFill>
                <a:round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9686925" y="5286375"/>
                <a:ext cx="57150" cy="57150"/>
              </a:xfrm>
              <a:prstGeom prst="ellipse">
                <a:avLst/>
              </a:prstGeom>
              <a:noFill/>
              <a:ln w="11430" cap="rnd">
                <a:solidFill>
                  <a:srgbClr val="FFFFFF"/>
                </a:solidFill>
                <a:round/>
              </a:ln>
            </p:spPr>
          </p:sp>
          <p:sp>
            <p:nvSpPr>
              <p:cNvPr id="82" name="Polyline 82"/>
              <p:cNvSpPr/>
              <p:nvPr/>
            </p:nvSpPr>
            <p:spPr>
              <a:xfrm>
                <a:off x="9686925" y="5238750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  <a:round/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9909810" y="51568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整改闭环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909810" y="534733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照片比对审核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9608483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质量验收案例：举牌验收 — AI识别验收牌 + 场景合规判断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666750" y="1285875"/>
            <a:ext cx="10858500" cy="342900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789605" y="1391602"/>
            <a:ext cx="8580647" cy="213360"/>
            <a:chOff x="1789605" y="1391602"/>
            <a:chExt cx="8580647" cy="213360"/>
          </a:xfrm>
        </p:grpSpPr>
        <p:sp>
          <p:nvSpPr>
            <p:cNvPr id="7" name="TextBox 7"/>
            <p:cNvSpPr txBox="1"/>
            <p:nvPr/>
          </p:nvSpPr>
          <p:spPr>
            <a:xfrm>
              <a:off x="1789605" y="13916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举牌验收拍照</a:t>
              </a:r>
              <a:endPara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40243" y="13916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0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97028" y="1391602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多模态解析</a:t>
              </a:r>
              <a:endPara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54993" y="13916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0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0248" y="1391602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验收记录 + 场景报告</a:t>
              </a:r>
              <a:endPara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3" name="Rectangle 13"/>
          <p:cNvSpPr/>
          <p:nvPr/>
        </p:nvSpPr>
        <p:spPr>
          <a:xfrm>
            <a:off x="666750" y="1809750"/>
            <a:ext cx="3238500" cy="3619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704505"/>
            <a:ext cx="3067050" cy="1725216"/>
          </a:xfrm>
          <a:prstGeom prst="rect">
            <a:avLst/>
          </a:prstGeom>
        </p:spPr>
      </p:pic>
      <p:sp>
        <p:nvSpPr>
          <p:cNvPr id="15" name="Rectangle 15"/>
          <p:cNvSpPr/>
          <p:nvPr/>
        </p:nvSpPr>
        <p:spPr>
          <a:xfrm>
            <a:off x="666750" y="5200650"/>
            <a:ext cx="3238500" cy="228600"/>
          </a:xfrm>
          <a:prstGeom prst="roundRect">
            <a:avLst>
              <a:gd name="adj" fmla="val 16667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88684" y="5273516"/>
            <a:ext cx="2394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0C4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现场原始影像：举牌验收 + 3位验收人员合影</a:t>
            </a:r>
            <a:endParaRPr lang="zh-CN" sz="825" dirty="0">
              <a:solidFill>
                <a:srgbClr val="B0C4D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Line 17"/>
          <p:cNvSpPr/>
          <p:nvPr/>
        </p:nvSpPr>
        <p:spPr>
          <a:xfrm>
            <a:off x="3952875" y="361950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9050">
            <a:solidFill>
              <a:srgbClr val="C8D6E5"/>
            </a:solidFill>
            <a:custDash>
              <a:ds d="200000" sp="150000"/>
            </a:custDash>
          </a:ln>
        </p:spPr>
      </p:sp>
      <p:sp>
        <p:nvSpPr>
          <p:cNvPr id="18" name="Polygon 18"/>
          <p:cNvSpPr/>
          <p:nvPr/>
        </p:nvSpPr>
        <p:spPr>
          <a:xfrm>
            <a:off x="4286250" y="3552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1A3A7A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5724525" y="36195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9050">
            <a:solidFill>
              <a:srgbClr val="C8D6E5"/>
            </a:solidFill>
            <a:custDash>
              <a:ds d="200000" sp="150000"/>
            </a:custDash>
          </a:ln>
        </p:spPr>
      </p:sp>
      <p:sp>
        <p:nvSpPr>
          <p:cNvPr id="20" name="Polygon 20"/>
          <p:cNvSpPr/>
          <p:nvPr/>
        </p:nvSpPr>
        <p:spPr>
          <a:xfrm>
            <a:off x="5934075" y="3552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1A3A7A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4600575" y="2676525"/>
            <a:ext cx="838200" cy="838200"/>
          </a:xfrm>
          <a:prstGeom prst="ellipse">
            <a:avLst/>
          </a:prstGeom>
          <a:solidFill>
            <a:srgbClr val="1A3A7A">
              <a:alpha val="10000"/>
            </a:srgbClr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4686300" y="2762250"/>
            <a:ext cx="666750" cy="66675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4914900" y="2962275"/>
            <a:ext cx="209550" cy="238125"/>
            <a:chOff x="4914900" y="2962275"/>
            <a:chExt cx="209550" cy="238125"/>
          </a:xfrm>
        </p:grpSpPr>
        <p:sp>
          <p:nvSpPr>
            <p:cNvPr id="23" name="Rectangle 23"/>
            <p:cNvSpPr/>
            <p:nvPr/>
          </p:nvSpPr>
          <p:spPr>
            <a:xfrm>
              <a:off x="4914900" y="3038475"/>
              <a:ext cx="209550" cy="161925"/>
            </a:xfrm>
            <a:prstGeom prst="roundRect">
              <a:avLst>
                <a:gd name="adj" fmla="val 23529"/>
              </a:avLst>
            </a:pr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4" name="Ellipse 24"/>
            <p:cNvSpPr/>
            <p:nvPr/>
          </p:nvSpPr>
          <p:spPr>
            <a:xfrm>
              <a:off x="4953000" y="3090862"/>
              <a:ext cx="47625" cy="47625"/>
            </a:xfrm>
            <a:prstGeom prst="ellipse">
              <a:avLst/>
            </a:pr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5" name="Ellipse 25"/>
            <p:cNvSpPr/>
            <p:nvPr/>
          </p:nvSpPr>
          <p:spPr>
            <a:xfrm>
              <a:off x="5038725" y="3090862"/>
              <a:ext cx="47625" cy="47625"/>
            </a:xfrm>
            <a:prstGeom prst="ellipse">
              <a:avLst/>
            </a:pr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986338" y="3171825"/>
              <a:ext cx="66675" cy="19050"/>
            </a:xfrm>
            <a:prstGeom prst="roundRect">
              <a:avLst>
                <a:gd name="adj" fmla="val 50000"/>
              </a:avLst>
            </a:pr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7" name="Line 27"/>
            <p:cNvSpPr/>
            <p:nvPr/>
          </p:nvSpPr>
          <p:spPr>
            <a:xfrm>
              <a:off x="5019675" y="29908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47625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5000625" y="2962275"/>
              <a:ext cx="38100" cy="38100"/>
            </a:xfrm>
            <a:prstGeom prst="ellipse">
              <a:avLst/>
            </a:prstGeom>
            <a:noFill/>
            <a:ln w="19050" cap="rnd">
              <a:solidFill>
                <a:srgbClr val="FFFFFF"/>
              </a:solidFill>
              <a:round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4564523" y="36085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数字员工</a:t>
            </a:r>
            <a:endParaRPr lang="zh-CN" sz="142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722495" y="3895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自动解析</a:t>
            </a:r>
            <a:endParaRPr lang="zh-CN" sz="97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6143625" y="1809750"/>
            <a:ext cx="3333750" cy="3619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933605" y="1974056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数字员工智能解析结果</a:t>
            </a:r>
            <a:endParaRPr lang="zh-CN" sz="112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305550" y="2238375"/>
            <a:ext cx="3009900" cy="9525"/>
          </a:xfrm>
          <a:custGeom>
            <a:avLst/>
            <a:gdLst/>
            <a:ahLst/>
            <a:cxnLst/>
            <a:rect l="l" t="t" r="r" b="b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276022" y="2368391"/>
            <a:ext cx="14316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OCR 文字提取（验收牌）</a:t>
            </a:r>
            <a:endParaRPr lang="zh-CN" sz="825" b="1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51" name="Group 51"/>
          <p:cNvGrpSpPr/>
          <p:nvPr/>
        </p:nvGrpSpPr>
        <p:grpSpPr>
          <a:xfrm>
            <a:off x="6267450" y="2552700"/>
            <a:ext cx="3086100" cy="1409700"/>
            <a:chOff x="6267450" y="2552700"/>
            <a:chExt cx="3086100" cy="1409700"/>
          </a:xfrm>
        </p:grpSpPr>
        <p:sp>
          <p:nvSpPr>
            <p:cNvPr id="36" name="Rectangle 36"/>
            <p:cNvSpPr/>
            <p:nvPr/>
          </p:nvSpPr>
          <p:spPr>
            <a:xfrm>
              <a:off x="6267450" y="2552700"/>
              <a:ext cx="3086100" cy="266700"/>
            </a:xfrm>
            <a:prstGeom prst="roundRect">
              <a:avLst>
                <a:gd name="adj" fmla="val 7143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90322" y="2644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项目名称</a:t>
              </a:r>
              <a:endPara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28522" y="2644616"/>
              <a:ext cx="14126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新兴县循环经济环保项目</a:t>
              </a:r>
              <a:endParaRPr lang="zh-CN" sz="8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67450" y="2838450"/>
              <a:ext cx="3086100" cy="2667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0322" y="293036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分项工程</a:t>
              </a:r>
              <a:endPara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28522" y="2930366"/>
              <a:ext cx="15581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综合楼通道 · 三混隐蔽工程</a:t>
              </a:r>
              <a:endParaRPr lang="zh-CN" sz="8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67450" y="3124200"/>
              <a:ext cx="3086100" cy="266700"/>
            </a:xfrm>
            <a:prstGeom prst="roundRect">
              <a:avLst>
                <a:gd name="adj" fmla="val 7143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90322" y="32161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验收结论</a:t>
              </a:r>
              <a:endPara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28522" y="32161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合格</a:t>
              </a:r>
              <a:endParaRPr lang="zh-CN" sz="8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67450" y="3409950"/>
              <a:ext cx="3086100" cy="2667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90322" y="350186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验收人员</a:t>
              </a:r>
              <a:endPara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28522" y="3501866"/>
              <a:ext cx="14126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严健波、黄国志、黄爱生</a:t>
              </a:r>
              <a:endParaRPr lang="zh-CN" sz="8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67450" y="3695700"/>
              <a:ext cx="3086100" cy="266700"/>
            </a:xfrm>
            <a:prstGeom prst="roundRect">
              <a:avLst>
                <a:gd name="adj" fmla="val 7143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90322" y="3787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验收时间</a:t>
              </a:r>
              <a:endPara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28522" y="3787616"/>
              <a:ext cx="1083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2025 年 10 月 13 日</a:t>
              </a:r>
              <a:endParaRPr lang="zh-CN" sz="8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2" name="Line 52"/>
          <p:cNvSpPr/>
          <p:nvPr/>
        </p:nvSpPr>
        <p:spPr>
          <a:xfrm>
            <a:off x="6334125" y="401955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E5E8E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276022" y="4140041"/>
            <a:ext cx="15391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场景智能识别（影像分析）</a:t>
            </a:r>
            <a:endParaRPr lang="zh-CN" sz="825" b="1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6267450" y="4324350"/>
            <a:ext cx="3259312" cy="838200"/>
            <a:chOff x="6267450" y="4324350"/>
            <a:chExt cx="3259312" cy="838200"/>
          </a:xfrm>
        </p:grpSpPr>
        <p:sp>
          <p:nvSpPr>
            <p:cNvPr id="54" name="Rectangle 54"/>
            <p:cNvSpPr/>
            <p:nvPr/>
          </p:nvSpPr>
          <p:spPr>
            <a:xfrm>
              <a:off x="6267450" y="4324350"/>
              <a:ext cx="3086100" cy="266700"/>
            </a:xfrm>
            <a:prstGeom prst="roundRect">
              <a:avLst>
                <a:gd name="adj" fmla="val 7143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90322" y="441626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施工阶段</a:t>
              </a:r>
              <a:endPara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28522" y="4416266"/>
              <a:ext cx="22982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室内装修阶段（可见吊顶龙骨、抹灰层）</a:t>
              </a:r>
              <a:endParaRPr lang="zh-CN" sz="8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67450" y="4610100"/>
              <a:ext cx="3086100" cy="2667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90322" y="47020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安全合规</a:t>
              </a:r>
              <a:endPara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28522" y="4702016"/>
              <a:ext cx="22476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 人均佩戴安全帽（GDE ×2、海诚 ×1）✓</a:t>
              </a:r>
              <a:endParaRPr lang="zh-CN" sz="8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67450" y="4895850"/>
              <a:ext cx="3086100" cy="266700"/>
            </a:xfrm>
            <a:prstGeom prst="roundRect">
              <a:avLst>
                <a:gd name="adj" fmla="val 7143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90322" y="498776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参建单位</a:t>
              </a:r>
              <a:endPara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28522" y="4987766"/>
              <a:ext cx="18301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保利中轻 · 中国海诚 · 广州轻工</a:t>
              </a:r>
              <a:endParaRPr lang="zh-CN" sz="8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4" name="Rectangle 64"/>
          <p:cNvSpPr/>
          <p:nvPr/>
        </p:nvSpPr>
        <p:spPr>
          <a:xfrm>
            <a:off x="9906000" y="1809750"/>
            <a:ext cx="1619250" cy="3571875"/>
          </a:xfrm>
          <a:prstGeom prst="roundRect">
            <a:avLst>
              <a:gd name="adj" fmla="val 5882"/>
            </a:avLst>
          </a:prstGeom>
          <a:noFill/>
          <a:ln w="14288">
            <a:solidFill>
              <a:srgbClr val="D0D8E0"/>
            </a:solidFill>
          </a:ln>
        </p:spPr>
      </p:sp>
      <p:pic>
        <p:nvPicPr>
          <p:cNvPr id="65" name="Image 65"/>
          <p:cNvPicPr>
            <a:picLocks noChangeAspect="1"/>
          </p:cNvPicPr>
          <p:nvPr/>
        </p:nvPicPr>
        <p:blipFill>
          <a:blip r:embed="rId4"/>
          <a:srcRect l="1881" r="1881"/>
          <a:stretch>
            <a:fillRect/>
          </a:stretch>
        </p:blipFill>
        <p:spPr>
          <a:xfrm>
            <a:off x="9953625" y="1885950"/>
            <a:ext cx="1524000" cy="3429000"/>
          </a:xfrm>
          <a:prstGeom prst="rect">
            <a:avLst/>
          </a:prstGeom>
        </p:spPr>
      </p:pic>
      <p:sp>
        <p:nvSpPr>
          <p:cNvPr id="66" name="TextBox 66"/>
          <p:cNvSpPr txBox="1"/>
          <p:nvPr/>
        </p:nvSpPr>
        <p:spPr>
          <a:xfrm>
            <a:off x="10093654" y="5454491"/>
            <a:ext cx="12439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数据入库 · 移动端可查</a:t>
            </a:r>
            <a:endParaRPr lang="zh-CN" sz="825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Rectangle 67"/>
          <p:cNvSpPr/>
          <p:nvPr/>
        </p:nvSpPr>
        <p:spPr>
          <a:xfrm>
            <a:off x="666750" y="5810250"/>
            <a:ext cx="10858500" cy="342900"/>
          </a:xfrm>
          <a:prstGeom prst="roundRect">
            <a:avLst>
              <a:gd name="adj" fmla="val 22222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2918620" y="5925502"/>
            <a:ext cx="63547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一张照片双向输出：OCR 提取验收牌文字 + 视觉识别场景与安全合规，入库后移动端可查</a:t>
            </a:r>
            <a:endParaRPr lang="zh-CN" sz="105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6951651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场景三：工程档案 — 数字员工自动化归档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33500"/>
            <a:ext cx="5143500" cy="3619500"/>
          </a:xfrm>
          <a:prstGeom prst="roundRect">
            <a:avLst>
              <a:gd name="adj" fmla="val 3158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rcRect t="3086" b="3086"/>
          <a:stretch>
            <a:fillRect/>
          </a:stretch>
        </p:blipFill>
        <p:spPr>
          <a:xfrm>
            <a:off x="523875" y="1333500"/>
            <a:ext cx="5143500" cy="3619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953125" y="1333500"/>
            <a:ext cx="5715000" cy="3619500"/>
          </a:xfrm>
          <a:prstGeom prst="roundRect">
            <a:avLst>
              <a:gd name="adj" fmla="val 3158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953125" y="1333500"/>
            <a:ext cx="5715000" cy="419100"/>
          </a:xfrm>
          <a:prstGeom prst="roundRect">
            <a:avLst>
              <a:gd name="adj" fmla="val 27273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935423" y="1463992"/>
            <a:ext cx="3750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建设后 — 数字员工自动化归档 + 文控App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6162675" y="1902142"/>
            <a:ext cx="4137660" cy="1793558"/>
            <a:chOff x="6162675" y="1902142"/>
            <a:chExt cx="4137660" cy="1793558"/>
          </a:xfrm>
        </p:grpSpPr>
        <p:sp>
          <p:nvSpPr>
            <p:cNvPr id="11" name="Ellipse 11"/>
            <p:cNvSpPr/>
            <p:nvPr/>
          </p:nvSpPr>
          <p:spPr>
            <a:xfrm>
              <a:off x="6162675" y="1924050"/>
              <a:ext cx="152400" cy="1524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96032" y="190881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0" y="1902142"/>
              <a:ext cx="3077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群文件/照片 → 数字员工自动归档</a:t>
              </a:r>
              <a:endPara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4135" y="2118360"/>
              <a:ext cx="22738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Vision识别 + OCR，永久留存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6162675" y="2590800"/>
              <a:ext cx="152400" cy="1524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73029" y="25755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0" y="2568892"/>
              <a:ext cx="22184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8大类文件智能识别分类</a:t>
              </a:r>
              <a:endPara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4135" y="2785110"/>
              <a:ext cx="3886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电子文件直传 + OCR纸质扫描，自动归入标定目录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6162675" y="3257550"/>
              <a:ext cx="152400" cy="1524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73029" y="32423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0" y="3235642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知识库全文语义搜索</a:t>
              </a:r>
              <a:endPara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4135" y="3451860"/>
              <a:ext cx="2317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"帮我找XX签证单" 3秒出结果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Rectangle 24"/>
          <p:cNvSpPr/>
          <p:nvPr/>
        </p:nvSpPr>
        <p:spPr>
          <a:xfrm>
            <a:off x="6191250" y="3810000"/>
            <a:ext cx="5334000" cy="342900"/>
          </a:xfrm>
          <a:prstGeom prst="roundRect">
            <a:avLst>
              <a:gd name="adj" fmla="val 22222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18885" y="3909060"/>
            <a:ext cx="11254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防丢100%云端</a:t>
            </a:r>
            <a:endParaRPr lang="zh-CN" sz="120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747635" y="3909060"/>
            <a:ext cx="10702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代替80%手工</a:t>
            </a:r>
            <a:endParaRPr lang="zh-CN" sz="120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76385" y="39090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照片资产化</a:t>
            </a:r>
            <a:endParaRPr lang="zh-CN" sz="120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523875" y="5191125"/>
            <a:ext cx="11144250" cy="381000"/>
          </a:xfrm>
          <a:prstGeom prst="roundRect">
            <a:avLst>
              <a:gd name="adj" fmla="val 20000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4855" y="5302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核心能力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69" name="Group 69"/>
          <p:cNvGrpSpPr/>
          <p:nvPr/>
        </p:nvGrpSpPr>
        <p:grpSpPr>
          <a:xfrm>
            <a:off x="714375" y="5715000"/>
            <a:ext cx="10810875" cy="523875"/>
            <a:chOff x="714375" y="5715000"/>
            <a:chExt cx="10810875" cy="523875"/>
          </a:xfrm>
        </p:grpSpPr>
        <p:sp>
          <p:nvSpPr>
            <p:cNvPr id="30" name="Rectangle 30"/>
            <p:cNvSpPr/>
            <p:nvPr/>
          </p:nvSpPr>
          <p:spPr>
            <a:xfrm>
              <a:off x="714375" y="57150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19150" y="58293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85825" y="5895975"/>
              <a:ext cx="133350" cy="133350"/>
              <a:chOff x="885825" y="5895975"/>
              <a:chExt cx="133350" cy="1333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85825" y="58959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lnTo>
                      <a:pt x="133350" y="28575"/>
                    </a:lnTo>
                    <a:lnTo>
                      <a:pt x="133350" y="133350"/>
                    </a:lnTo>
                    <a:lnTo>
                      <a:pt x="0" y="133350"/>
                    </a:lnTo>
                    <a:lnTo>
                      <a:pt x="0" y="28575"/>
                    </a:lnTo>
                    <a:close/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33" name="Polyline 33"/>
              <p:cNvSpPr/>
              <p:nvPr/>
            </p:nvSpPr>
            <p:spPr>
              <a:xfrm>
                <a:off x="914400" y="5924550"/>
                <a:ext cx="762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8575">
                    <a:moveTo>
                      <a:pt x="0" y="0"/>
                    </a:moveTo>
                    <a:lnTo>
                      <a:pt x="38100" y="28575"/>
                    </a:lnTo>
                    <a:lnTo>
                      <a:pt x="7620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146810" y="58045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数字员工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6810" y="59950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快速归档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905125" y="57150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009900" y="58293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3086100" y="5895975"/>
              <a:ext cx="114300" cy="133350"/>
              <a:chOff x="3086100" y="5895975"/>
              <a:chExt cx="114300" cy="1333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086100" y="5895975"/>
                <a:ext cx="114300" cy="133350"/>
              </a:xfrm>
              <a:prstGeom prst="roundRect">
                <a:avLst>
                  <a:gd name="adj" fmla="val 12500"/>
                </a:avLst>
              </a:pr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3114675" y="59340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3114675" y="59626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3114675" y="59912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3337560" y="5804535"/>
              <a:ext cx="827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8大类文件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37560" y="59950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智能识别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095875" y="57150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5200650" y="58293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5267325" y="5895975"/>
              <a:ext cx="133350" cy="133350"/>
              <a:chOff x="5267325" y="5895975"/>
              <a:chExt cx="133350" cy="133350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5267325" y="5895975"/>
                <a:ext cx="133350" cy="133350"/>
              </a:xfrm>
              <a:prstGeom prst="ellipse">
                <a:avLst/>
              </a:pr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5286375" y="59626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5334000" y="591502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5528310" y="5804535"/>
              <a:ext cx="5562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知识库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28310" y="59950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全文搜索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86625" y="57150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391400" y="58293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467600" y="5905500"/>
              <a:ext cx="133350" cy="95250"/>
              <a:chOff x="7467600" y="5905500"/>
              <a:chExt cx="133350" cy="95250"/>
            </a:xfrm>
          </p:grpSpPr>
          <p:sp>
            <p:nvSpPr>
              <p:cNvPr id="56" name="Polyline 56"/>
              <p:cNvSpPr/>
              <p:nvPr/>
            </p:nvSpPr>
            <p:spPr>
              <a:xfrm>
                <a:off x="7467600" y="59245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76200"/>
                    </a:moveTo>
                    <a:lnTo>
                      <a:pt x="38100" y="28575"/>
                    </a:lnTo>
                    <a:lnTo>
                      <a:pt x="76200" y="57150"/>
                    </a:lnTo>
                    <a:lnTo>
                      <a:pt x="11430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7562850" y="5905500"/>
                <a:ext cx="38100" cy="38100"/>
              </a:xfrm>
              <a:prstGeom prst="ellipse">
                <a:avLst/>
              </a:prstGeom>
              <a:solidFill>
                <a:srgbClr val="FFFFFF"/>
              </a:solidFill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719060" y="5804535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归档完整性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19060" y="5995035"/>
              <a:ext cx="38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核验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477375" y="5715000"/>
              <a:ext cx="2047875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9582150" y="5829300"/>
              <a:ext cx="266700" cy="266700"/>
            </a:xfrm>
            <a:prstGeom prst="ellipse">
              <a:avLst/>
            </a:prstGeom>
            <a:solidFill>
              <a:srgbClr val="1A3A7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48825" y="5915025"/>
              <a:ext cx="133350" cy="104775"/>
              <a:chOff x="9648825" y="5915025"/>
              <a:chExt cx="133350" cy="104775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9648825" y="5915025"/>
                <a:ext cx="133350" cy="95250"/>
              </a:xfrm>
              <a:prstGeom prst="roundRect">
                <a:avLst>
                  <a:gd name="adj" fmla="val 10000"/>
                </a:avLst>
              </a:pr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663112" y="5929312"/>
                <a:ext cx="47625" cy="47625"/>
              </a:xfrm>
              <a:prstGeom prst="ellipse">
                <a:avLst/>
              </a:prstGeom>
              <a:noFill/>
              <a:ln w="11430" cap="rnd">
                <a:solidFill>
                  <a:srgbClr val="FFFFFF"/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9725025" y="60102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1430" cap="rnd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909810" y="58045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水印照片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909810" y="5995035"/>
              <a:ext cx="5562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资产化</a:t>
              </a:r>
              <a:endParaRPr lang="zh-CN" sz="120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7710746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项目实证：植护元创 — 二氧化氯项目案例演示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476250" y="1285875"/>
            <a:ext cx="11239500" cy="342900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2045875" y="1391602"/>
            <a:ext cx="8085511" cy="213360"/>
            <a:chOff x="2045875" y="1391602"/>
            <a:chExt cx="8085511" cy="213360"/>
          </a:xfrm>
        </p:grpSpPr>
        <p:sp>
          <p:nvSpPr>
            <p:cNvPr id="7" name="TextBox 7"/>
            <p:cNvSpPr txBox="1"/>
            <p:nvPr/>
          </p:nvSpPr>
          <p:spPr>
            <a:xfrm>
              <a:off x="2045875" y="1391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图片上传</a:t>
              </a:r>
              <a:endPara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35493" y="13916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0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11681" y="1391602"/>
              <a:ext cx="9686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OCR提取表格</a:t>
              </a:r>
              <a:endPara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5493" y="13916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0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99615" y="13916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结构化入库</a:t>
              </a:r>
              <a:endPara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3" name="Rectangle 13"/>
          <p:cNvSpPr/>
          <p:nvPr/>
        </p:nvSpPr>
        <p:spPr>
          <a:xfrm>
            <a:off x="428625" y="1809750"/>
            <a:ext cx="4000500" cy="36195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51910"/>
            <a:ext cx="3771900" cy="2830405"/>
          </a:xfrm>
          <a:prstGeom prst="rect">
            <a:avLst/>
          </a:prstGeom>
        </p:spPr>
      </p:pic>
      <p:sp>
        <p:nvSpPr>
          <p:cNvPr id="15" name="Rectangle 15"/>
          <p:cNvSpPr/>
          <p:nvPr/>
        </p:nvSpPr>
        <p:spPr>
          <a:xfrm>
            <a:off x="428625" y="5200650"/>
            <a:ext cx="4000500" cy="228600"/>
          </a:xfrm>
          <a:prstGeom prst="roundRect">
            <a:avLst>
              <a:gd name="adj" fmla="val 16667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431608" y="5265420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0C4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现场原始影像：含经纬度与时间戳</a:t>
            </a:r>
            <a:endParaRPr lang="zh-CN" sz="900" dirty="0">
              <a:solidFill>
                <a:srgbClr val="B0C4D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Line 17"/>
          <p:cNvSpPr/>
          <p:nvPr/>
        </p:nvSpPr>
        <p:spPr>
          <a:xfrm>
            <a:off x="4476750" y="3619500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19050">
            <a:solidFill>
              <a:srgbClr val="C8D6E5"/>
            </a:solidFill>
            <a:custDash>
              <a:ds d="200000" sp="150000"/>
            </a:custDash>
          </a:ln>
        </p:spPr>
      </p:sp>
      <p:sp>
        <p:nvSpPr>
          <p:cNvPr id="18" name="Polygon 18"/>
          <p:cNvSpPr/>
          <p:nvPr/>
        </p:nvSpPr>
        <p:spPr>
          <a:xfrm>
            <a:off x="4838700" y="3552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1A3A7A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5829300" y="3619500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19050">
            <a:solidFill>
              <a:srgbClr val="C8D6E5"/>
            </a:solidFill>
            <a:custDash>
              <a:ds d="200000" sp="150000"/>
            </a:custDash>
          </a:ln>
        </p:spPr>
      </p:sp>
      <p:sp>
        <p:nvSpPr>
          <p:cNvPr id="20" name="Polygon 20"/>
          <p:cNvSpPr/>
          <p:nvPr/>
        </p:nvSpPr>
        <p:spPr>
          <a:xfrm>
            <a:off x="6057900" y="3552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1A3A7A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4876800" y="2638425"/>
            <a:ext cx="914400" cy="914400"/>
          </a:xfrm>
          <a:prstGeom prst="ellipse">
            <a:avLst/>
          </a:prstGeom>
          <a:solidFill>
            <a:srgbClr val="1A3A7A">
              <a:alpha val="10000"/>
            </a:srgbClr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4972050" y="2733675"/>
            <a:ext cx="723900" cy="7239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219700" y="2952750"/>
            <a:ext cx="228600" cy="257175"/>
            <a:chOff x="5219700" y="2952750"/>
            <a:chExt cx="228600" cy="257175"/>
          </a:xfrm>
        </p:grpSpPr>
        <p:sp>
          <p:nvSpPr>
            <p:cNvPr id="23" name="Rectangle 23"/>
            <p:cNvSpPr/>
            <p:nvPr/>
          </p:nvSpPr>
          <p:spPr>
            <a:xfrm>
              <a:off x="5219700" y="3038475"/>
              <a:ext cx="228600" cy="171450"/>
            </a:xfrm>
            <a:prstGeom prst="roundRect">
              <a:avLst>
                <a:gd name="adj" fmla="val 22222"/>
              </a:avLst>
            </a:pr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4" name="Ellipse 24"/>
            <p:cNvSpPr/>
            <p:nvPr/>
          </p:nvSpPr>
          <p:spPr>
            <a:xfrm>
              <a:off x="5262562" y="3090862"/>
              <a:ext cx="47625" cy="47625"/>
            </a:xfrm>
            <a:prstGeom prst="ellipse">
              <a:avLst/>
            </a:pr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5" name="Ellipse 25"/>
            <p:cNvSpPr/>
            <p:nvPr/>
          </p:nvSpPr>
          <p:spPr>
            <a:xfrm>
              <a:off x="5357812" y="3090862"/>
              <a:ext cx="47625" cy="47625"/>
            </a:xfrm>
            <a:prstGeom prst="ellipse">
              <a:avLst/>
            </a:pr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295900" y="3171825"/>
              <a:ext cx="76200" cy="19050"/>
            </a:xfrm>
            <a:prstGeom prst="roundRect">
              <a:avLst>
                <a:gd name="adj" fmla="val 50000"/>
              </a:avLst>
            </a:pr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7" name="Line 27"/>
            <p:cNvSpPr/>
            <p:nvPr/>
          </p:nvSpPr>
          <p:spPr>
            <a:xfrm>
              <a:off x="5334000" y="298132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2952750"/>
              <a:ext cx="38100" cy="38100"/>
            </a:xfrm>
            <a:prstGeom prst="ellipse">
              <a:avLst/>
            </a:prstGeom>
            <a:noFill/>
            <a:ln w="19050" cap="rnd">
              <a:solidFill>
                <a:srgbClr val="FFFFFF"/>
              </a:solidFill>
              <a:round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4854892" y="36671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数字员工</a:t>
            </a:r>
            <a:endParaRPr lang="zh-CN" sz="15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036820" y="39714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自动解析</a:t>
            </a:r>
            <a:endParaRPr lang="zh-CN" sz="97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6286500" y="1809750"/>
            <a:ext cx="4381500" cy="36195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265860" y="1965960"/>
            <a:ext cx="2422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智能提取出的项目结构化台账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524625" y="2238375"/>
            <a:ext cx="3905250" cy="9525"/>
          </a:xfrm>
          <a:custGeom>
            <a:avLst/>
            <a:gdLst/>
            <a:ahLst/>
            <a:cxnLst/>
            <a:rect l="l" t="t" r="r" b="b"/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grpSp>
        <p:nvGrpSpPr>
          <p:cNvPr id="53" name="Group 53"/>
          <p:cNvGrpSpPr/>
          <p:nvPr/>
        </p:nvGrpSpPr>
        <p:grpSpPr>
          <a:xfrm>
            <a:off x="6477000" y="2400300"/>
            <a:ext cx="4000500" cy="2590800"/>
            <a:chOff x="6477000" y="2400300"/>
            <a:chExt cx="4000500" cy="2590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400300"/>
              <a:ext cx="4000500" cy="400050"/>
            </a:xfrm>
            <a:prstGeom prst="roundRect">
              <a:avLst>
                <a:gd name="adj" fmla="val 9524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5118" y="2466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项目名称</a:t>
              </a:r>
              <a:endParaRPr lang="zh-CN" sz="97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0992" y="2466499"/>
              <a:ext cx="1602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植护元创-二氧化氯项目</a:t>
              </a:r>
              <a:endParaRPr lang="zh-CN" sz="9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2838450"/>
              <a:ext cx="40005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5118" y="29046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具体施工部位</a:t>
              </a:r>
              <a:endParaRPr lang="zh-CN" sz="97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40992" y="29046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制备工段主厂房</a:t>
              </a:r>
              <a:endParaRPr lang="zh-CN" sz="9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77000" y="3276600"/>
              <a:ext cx="4000500" cy="400050"/>
            </a:xfrm>
            <a:prstGeom prst="roundRect">
              <a:avLst>
                <a:gd name="adj" fmla="val 9524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5118" y="33427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核定施工内容</a:t>
              </a:r>
              <a:endParaRPr lang="zh-CN" sz="97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40992" y="33427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基础模板加固</a:t>
              </a:r>
              <a:endParaRPr lang="zh-CN" sz="9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77000" y="3714750"/>
              <a:ext cx="40005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5118" y="37809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现场施工单位</a:t>
              </a:r>
              <a:endParaRPr lang="zh-CN" sz="97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40992" y="37809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中轻建设</a:t>
              </a:r>
              <a:endParaRPr lang="zh-CN" sz="9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77000" y="4152900"/>
              <a:ext cx="4000500" cy="400050"/>
            </a:xfrm>
            <a:prstGeom prst="roundRect">
              <a:avLst>
                <a:gd name="adj" fmla="val 9524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55118" y="42190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图像拍摄时间</a:t>
              </a:r>
              <a:endParaRPr lang="zh-CN" sz="97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40992" y="4219099"/>
              <a:ext cx="14676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2025年8月29日 08:14</a:t>
              </a:r>
              <a:endParaRPr lang="zh-CN" sz="9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4591050"/>
              <a:ext cx="40005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5118" y="4657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E9E9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环境气象匹配</a:t>
              </a:r>
              <a:endParaRPr lang="zh-CN" sz="975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40992" y="46572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晴天 | 27摄氏度</a:t>
              </a:r>
              <a:endParaRPr lang="zh-CN" sz="9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4" name="Rectangle 54"/>
          <p:cNvSpPr/>
          <p:nvPr/>
        </p:nvSpPr>
        <p:spPr>
          <a:xfrm>
            <a:off x="428625" y="5715000"/>
            <a:ext cx="10239375" cy="342900"/>
          </a:xfrm>
          <a:prstGeom prst="roundRect">
            <a:avLst>
              <a:gd name="adj" fmla="val 22222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2366170" y="5830252"/>
            <a:ext cx="63547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数据资产转化：现场原始影像 → 数字员工智能提取 → 自动填充结构化台账，无需人工填表</a:t>
            </a:r>
            <a:endParaRPr lang="zh-CN" sz="105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5813009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场景四：海外采购物流 — 动态追踪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33500"/>
            <a:ext cx="5143500" cy="3143250"/>
          </a:xfrm>
          <a:prstGeom prst="roundRect">
            <a:avLst>
              <a:gd name="adj" fmla="val 3636"/>
            </a:avLst>
          </a:prstGeom>
          <a:solidFill>
            <a:srgbClr val="E3F2FD"/>
          </a:solidFill>
          <a:ln w="9525">
            <a:solidFill>
              <a:srgbClr val="93C5FD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rcRect t="9259" b="9259"/>
          <a:stretch>
            <a:fillRect/>
          </a:stretch>
        </p:blipFill>
        <p:spPr>
          <a:xfrm>
            <a:off x="523875" y="1333500"/>
            <a:ext cx="5143500" cy="314325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953125" y="1333500"/>
            <a:ext cx="5715000" cy="3143250"/>
          </a:xfrm>
          <a:prstGeom prst="roundRect">
            <a:avLst>
              <a:gd name="adj" fmla="val 3636"/>
            </a:avLst>
          </a:prstGeom>
          <a:solidFill>
            <a:srgbClr val="E3F2FD"/>
          </a:solidFill>
          <a:ln w="9525">
            <a:solidFill>
              <a:srgbClr val="93C5F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953125" y="1333500"/>
            <a:ext cx="5715000" cy="419100"/>
          </a:xfrm>
          <a:prstGeom prst="roundRect">
            <a:avLst>
              <a:gd name="adj" fmla="val 2727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63151" y="1463992"/>
            <a:ext cx="32949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建设后 — 智慧工地2.0 采购物流App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6162675" y="1787842"/>
            <a:ext cx="3086100" cy="1574483"/>
            <a:chOff x="6162675" y="1787842"/>
            <a:chExt cx="3086100" cy="1574483"/>
          </a:xfrm>
        </p:grpSpPr>
        <p:sp>
          <p:nvSpPr>
            <p:cNvPr id="11" name="Ellipse 11"/>
            <p:cNvSpPr/>
            <p:nvPr/>
          </p:nvSpPr>
          <p:spPr>
            <a:xfrm>
              <a:off x="6162675" y="1809750"/>
              <a:ext cx="152400" cy="1524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96032" y="179451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0" y="1787842"/>
              <a:ext cx="23943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OCR识别7种海外物流单据</a:t>
              </a:r>
              <a:endParaRPr lang="zh-CN" sz="1350" b="1" dirty="0">
                <a:solidFill>
                  <a:srgbClr val="0D47A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4135" y="1975485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自动串联三层单据链，缺失秒级预警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6162675" y="2381250"/>
              <a:ext cx="152400" cy="1524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73029" y="23660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0" y="2359342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海外全节点透明追踪</a:t>
              </a:r>
              <a:endParaRPr lang="zh-CN" sz="1350" b="1" dirty="0">
                <a:solidFill>
                  <a:srgbClr val="0D47A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4135" y="2546985"/>
              <a:ext cx="26155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发货→报关→运输→到港→清关→到货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6162675" y="2952750"/>
              <a:ext cx="152400" cy="1524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73029" y="29375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0" y="2930842"/>
              <a:ext cx="22184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到货扫码/拍照关联订单</a:t>
              </a:r>
              <a:endParaRPr lang="zh-CN" sz="1350" b="1" dirty="0">
                <a:solidFill>
                  <a:srgbClr val="0D47A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4135" y="3118485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自动推送费控，触发支付结算</a:t>
              </a:r>
              <a:endParaRPr lang="zh-CN" sz="120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Rectangle 24"/>
          <p:cNvSpPr/>
          <p:nvPr/>
        </p:nvSpPr>
        <p:spPr>
          <a:xfrm>
            <a:off x="6191250" y="3476625"/>
            <a:ext cx="53340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18885" y="3575685"/>
            <a:ext cx="1410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提前15-30天预知</a:t>
            </a:r>
            <a:endParaRPr lang="zh-CN" sz="12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842885" y="357568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实物动态透明</a:t>
            </a:r>
            <a:endParaRPr lang="zh-CN" sz="12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71635" y="357568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施工排产精准</a:t>
            </a:r>
            <a:endParaRPr lang="zh-CN" sz="12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523875" y="4714875"/>
            <a:ext cx="11144250" cy="381000"/>
          </a:xfrm>
          <a:prstGeom prst="roundRect">
            <a:avLst>
              <a:gd name="adj" fmla="val 2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903438" y="4832985"/>
            <a:ext cx="83851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核心价值：变「被动看文档」为「主动管实物」—— 打通采购链路最后一步，从合同到结算形成完整闭环</a:t>
            </a:r>
            <a:endParaRPr lang="zh-CN" sz="12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523875" y="5238750"/>
            <a:ext cx="11144250" cy="342900"/>
          </a:xfrm>
          <a:prstGeom prst="roundRect">
            <a:avLst>
              <a:gd name="adj" fmla="val 22222"/>
            </a:avLst>
          </a:prstGeom>
          <a:solidFill>
            <a:srgbClr val="F0F5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44855" y="53216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核心能力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714375" y="5715000"/>
            <a:ext cx="10810875" cy="347662"/>
            <a:chOff x="714375" y="5715000"/>
            <a:chExt cx="10810875" cy="347662"/>
          </a:xfrm>
        </p:grpSpPr>
        <p:sp>
          <p:nvSpPr>
            <p:cNvPr id="32" name="Rectangle 32"/>
            <p:cNvSpPr/>
            <p:nvPr/>
          </p:nvSpPr>
          <p:spPr>
            <a:xfrm>
              <a:off x="714375" y="5715000"/>
              <a:ext cx="2047875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2523" y="5788342"/>
              <a:ext cx="1582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OCR单据识别入库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905125" y="5715000"/>
              <a:ext cx="2047875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18485" y="578834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海外物流节点追踪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095875" y="5715000"/>
              <a:ext cx="2047875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07819" y="5788342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三层单证链串联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86625" y="5715000"/>
              <a:ext cx="2047875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99985" y="578834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扫码签收到货确认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477375" y="5715000"/>
              <a:ext cx="2047875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90735" y="578834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自动推送费控结算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16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7274266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采购管理链路延伸：打通实物到货最后一步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762000" y="1285875"/>
            <a:ext cx="10668000" cy="342900"/>
          </a:xfrm>
          <a:prstGeom prst="roundRect">
            <a:avLst>
              <a:gd name="adj" fmla="val 22222"/>
            </a:avLst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170009" y="1359218"/>
            <a:ext cx="78519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方案逻辑：在维持普华系统既有流程的基础上，通过</a:t>
            </a:r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智慧工地2.0</a:t>
            </a:r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将管控触角向物流侧延伸</a:t>
            </a:r>
            <a:endParaRPr lang="zh-CN" sz="1350" dirty="0">
              <a:solidFill>
                <a:srgbClr val="55555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Ellipse 8"/>
          <p:cNvSpPr/>
          <p:nvPr/>
        </p:nvSpPr>
        <p:spPr>
          <a:xfrm>
            <a:off x="457200" y="2152650"/>
            <a:ext cx="419100" cy="419100"/>
          </a:xfrm>
          <a:prstGeom prst="ellipse">
            <a:avLst/>
          </a:prstGeom>
          <a:noFill/>
          <a:ln w="23812">
            <a:solidFill>
              <a:srgbClr val="1565C0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666750" y="2276475"/>
            <a:ext cx="76200" cy="171450"/>
            <a:chOff x="666750" y="2276475"/>
            <a:chExt cx="76200" cy="171450"/>
          </a:xfrm>
        </p:grpSpPr>
        <p:sp>
          <p:nvSpPr>
            <p:cNvPr id="9" name="Line 9"/>
            <p:cNvSpPr/>
            <p:nvPr/>
          </p:nvSpPr>
          <p:spPr>
            <a:xfrm>
              <a:off x="666750" y="227647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 cap="rnd">
              <a:solidFill>
                <a:srgbClr val="1565C0"/>
              </a:solidFill>
            </a:ln>
          </p:spPr>
        </p:sp>
        <p:sp>
          <p:nvSpPr>
            <p:cNvPr id="10" name="Polyline 10"/>
            <p:cNvSpPr/>
            <p:nvPr/>
          </p:nvSpPr>
          <p:spPr>
            <a:xfrm>
              <a:off x="666750" y="2276475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28575"/>
                  </a:lnTo>
                  <a:lnTo>
                    <a:pt x="0" y="57150"/>
                  </a:lnTo>
                </a:path>
              </a:pathLst>
            </a:custGeom>
            <a:noFill/>
            <a:ln w="14288" cap="rnd">
              <a:solidFill>
                <a:srgbClr val="1565C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235553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招标定标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Line 13"/>
          <p:cNvSpPr/>
          <p:nvPr/>
        </p:nvSpPr>
        <p:spPr>
          <a:xfrm>
            <a:off x="933450" y="2362200"/>
            <a:ext cx="828675" cy="1"/>
          </a:xfrm>
          <a:prstGeom prst="line">
            <a:avLst/>
          </a:prstGeom>
          <a:noFill/>
          <a:ln w="17145">
            <a:solidFill>
              <a:srgbClr val="1565C0"/>
            </a:solidFill>
            <a:tailEnd type="triangle" w="lg" len="lg"/>
          </a:ln>
        </p:spPr>
      </p:sp>
      <p:sp>
        <p:nvSpPr>
          <p:cNvPr id="14" name="Ellipse 14"/>
          <p:cNvSpPr/>
          <p:nvPr/>
        </p:nvSpPr>
        <p:spPr>
          <a:xfrm>
            <a:off x="1838325" y="2152650"/>
            <a:ext cx="419100" cy="419100"/>
          </a:xfrm>
          <a:prstGeom prst="ellipse">
            <a:avLst/>
          </a:prstGeom>
          <a:noFill/>
          <a:ln w="23812">
            <a:solidFill>
              <a:srgbClr val="1565C0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1981200" y="2276475"/>
            <a:ext cx="133350" cy="152400"/>
            <a:chOff x="1981200" y="2276475"/>
            <a:chExt cx="133350" cy="152400"/>
          </a:xfrm>
        </p:grpSpPr>
        <p:sp>
          <p:nvSpPr>
            <p:cNvPr id="15" name="Rectangle 15"/>
            <p:cNvSpPr/>
            <p:nvPr/>
          </p:nvSpPr>
          <p:spPr>
            <a:xfrm>
              <a:off x="1981200" y="2276475"/>
              <a:ext cx="133350" cy="152400"/>
            </a:xfrm>
            <a:prstGeom prst="roundRect">
              <a:avLst>
                <a:gd name="adj" fmla="val 10714"/>
              </a:avLst>
            </a:prstGeom>
            <a:noFill/>
            <a:ln w="14288" cap="rnd">
              <a:solidFill>
                <a:srgbClr val="1565C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009775" y="23336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9525" cap="rnd">
              <a:solidFill>
                <a:srgbClr val="1565C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009775" y="23717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9525" cap="rnd">
              <a:solidFill>
                <a:srgbClr val="1565C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009775" y="24098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 cap="rnd">
              <a:solidFill>
                <a:srgbClr val="1565C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616678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合同管理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2314575" y="2362200"/>
            <a:ext cx="828675" cy="1"/>
          </a:xfrm>
          <a:prstGeom prst="line">
            <a:avLst/>
          </a:prstGeom>
          <a:noFill/>
          <a:ln w="17145">
            <a:solidFill>
              <a:srgbClr val="1565C0"/>
            </a:solidFill>
            <a:tailEnd type="triangle" w="lg" len="lg"/>
          </a:ln>
        </p:spPr>
      </p:sp>
      <p:sp>
        <p:nvSpPr>
          <p:cNvPr id="22" name="Ellipse 22"/>
          <p:cNvSpPr/>
          <p:nvPr/>
        </p:nvSpPr>
        <p:spPr>
          <a:xfrm>
            <a:off x="3219450" y="2152650"/>
            <a:ext cx="419100" cy="419100"/>
          </a:xfrm>
          <a:prstGeom prst="ellipse">
            <a:avLst/>
          </a:prstGeom>
          <a:noFill/>
          <a:ln w="23812">
            <a:solidFill>
              <a:srgbClr val="1565C0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3362325" y="2286000"/>
            <a:ext cx="133350" cy="123825"/>
            <a:chOff x="3362325" y="2286000"/>
            <a:chExt cx="133350" cy="123825"/>
          </a:xfrm>
        </p:grpSpPr>
        <p:sp>
          <p:nvSpPr>
            <p:cNvPr id="23" name="Rectangle 23"/>
            <p:cNvSpPr/>
            <p:nvPr/>
          </p:nvSpPr>
          <p:spPr>
            <a:xfrm>
              <a:off x="3362325" y="2314575"/>
              <a:ext cx="133350" cy="95250"/>
            </a:xfrm>
            <a:prstGeom prst="roundRect">
              <a:avLst>
                <a:gd name="adj" fmla="val 15000"/>
              </a:avLst>
            </a:prstGeom>
            <a:noFill/>
            <a:ln w="14288" cap="rnd">
              <a:solidFill>
                <a:srgbClr val="1565C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390900" y="2286000"/>
              <a:ext cx="76200" cy="28575"/>
            </a:xfrm>
            <a:custGeom>
              <a:avLst/>
              <a:gdLst/>
              <a:ahLst/>
              <a:cxnLst/>
              <a:rect l="l" t="t" r="r" b="b"/>
              <a:pathLst>
                <a:path w="76200" h="28575">
                  <a:moveTo>
                    <a:pt x="0" y="28575"/>
                  </a:moveTo>
                  <a:cubicBezTo>
                    <a:pt x="0" y="0"/>
                    <a:pt x="76200" y="0"/>
                    <a:pt x="76200" y="28575"/>
                  </a:cubicBezTo>
                </a:path>
              </a:pathLst>
            </a:custGeom>
            <a:noFill/>
            <a:ln w="14288" cap="rnd">
              <a:solidFill>
                <a:srgbClr val="1565C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2997803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采购订单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3695700" y="2362200"/>
            <a:ext cx="828675" cy="1"/>
          </a:xfrm>
          <a:prstGeom prst="line">
            <a:avLst/>
          </a:prstGeom>
          <a:noFill/>
          <a:ln w="17145">
            <a:solidFill>
              <a:srgbClr val="1565C0"/>
            </a:solidFill>
            <a:tailEnd type="triangle" w="lg" len="lg"/>
          </a:ln>
        </p:spPr>
      </p:sp>
      <p:sp>
        <p:nvSpPr>
          <p:cNvPr id="28" name="Ellipse 28"/>
          <p:cNvSpPr/>
          <p:nvPr/>
        </p:nvSpPr>
        <p:spPr>
          <a:xfrm>
            <a:off x="4600575" y="2152650"/>
            <a:ext cx="419100" cy="419100"/>
          </a:xfrm>
          <a:prstGeom prst="ellipse">
            <a:avLst/>
          </a:prstGeom>
          <a:noFill/>
          <a:ln w="23812">
            <a:solidFill>
              <a:srgbClr val="1565C0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4733925" y="2286000"/>
            <a:ext cx="152400" cy="152400"/>
          </a:xfrm>
          <a:prstGeom prst="ellipse">
            <a:avLst/>
          </a:prstGeom>
          <a:noFill/>
          <a:ln w="14288">
            <a:solidFill>
              <a:srgbClr val="1565C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744279" y="229933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¥</a:t>
            </a:r>
            <a:endParaRPr lang="zh-CN" sz="12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378928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预付申请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5076825" y="2362200"/>
            <a:ext cx="828675" cy="1"/>
          </a:xfrm>
          <a:prstGeom prst="line">
            <a:avLst/>
          </a:prstGeom>
          <a:noFill/>
          <a:ln w="17145">
            <a:solidFill>
              <a:srgbClr val="1565C0"/>
            </a:solidFill>
            <a:tailEnd type="triangle" w="lg" len="lg"/>
          </a:ln>
        </p:spPr>
      </p:sp>
      <p:sp>
        <p:nvSpPr>
          <p:cNvPr id="33" name="Ellipse 33"/>
          <p:cNvSpPr/>
          <p:nvPr/>
        </p:nvSpPr>
        <p:spPr>
          <a:xfrm>
            <a:off x="5981700" y="2152650"/>
            <a:ext cx="419100" cy="419100"/>
          </a:xfrm>
          <a:prstGeom prst="ellipse">
            <a:avLst/>
          </a:prstGeom>
          <a:solidFill>
            <a:srgbClr val="F0FAFB"/>
          </a:solidFill>
          <a:ln w="23812">
            <a:solidFill>
              <a:srgbClr val="00ACC1"/>
            </a:solidFill>
          </a:ln>
        </p:spPr>
      </p:sp>
      <p:grpSp>
        <p:nvGrpSpPr>
          <p:cNvPr id="37" name="Group 37"/>
          <p:cNvGrpSpPr/>
          <p:nvPr/>
        </p:nvGrpSpPr>
        <p:grpSpPr>
          <a:xfrm>
            <a:off x="6115050" y="2276475"/>
            <a:ext cx="152400" cy="133350"/>
            <a:chOff x="6115050" y="2276475"/>
            <a:chExt cx="152400" cy="133350"/>
          </a:xfrm>
        </p:grpSpPr>
        <p:sp>
          <p:nvSpPr>
            <p:cNvPr id="34" name="Rectangle 34"/>
            <p:cNvSpPr/>
            <p:nvPr/>
          </p:nvSpPr>
          <p:spPr>
            <a:xfrm>
              <a:off x="6115050" y="2314575"/>
              <a:ext cx="152400" cy="95250"/>
            </a:xfrm>
            <a:prstGeom prst="roundRect">
              <a:avLst>
                <a:gd name="adj" fmla="val 10000"/>
              </a:avLst>
            </a:prstGeom>
            <a:noFill/>
            <a:ln w="14288" cap="rnd">
              <a:solidFill>
                <a:srgbClr val="00ACC1"/>
              </a:solidFill>
              <a:round/>
            </a:ln>
          </p:spPr>
        </p:sp>
        <p:sp>
          <p:nvSpPr>
            <p:cNvPr id="35" name="Polyline 35"/>
            <p:cNvSpPr/>
            <p:nvPr/>
          </p:nvSpPr>
          <p:spPr>
            <a:xfrm>
              <a:off x="6115050" y="2276475"/>
              <a:ext cx="152400" cy="38100"/>
            </a:xfrm>
            <a:custGeom>
              <a:avLst/>
              <a:gdLst/>
              <a:ahLst/>
              <a:cxnLst/>
              <a:rect l="l" t="t" r="r" b="b"/>
              <a:pathLst>
                <a:path w="152400" h="38100">
                  <a:moveTo>
                    <a:pt x="0" y="38100"/>
                  </a:moveTo>
                  <a:lnTo>
                    <a:pt x="28575" y="0"/>
                  </a:lnTo>
                  <a:lnTo>
                    <a:pt x="123825" y="0"/>
                  </a:lnTo>
                  <a:lnTo>
                    <a:pt x="152400" y="38100"/>
                  </a:lnTo>
                </a:path>
              </a:pathLst>
            </a:custGeom>
            <a:noFill/>
            <a:ln w="14288" cap="rnd">
              <a:solidFill>
                <a:srgbClr val="00ACC1"/>
              </a:solidFill>
              <a:round/>
            </a:ln>
          </p:spPr>
        </p:sp>
        <p:sp>
          <p:nvSpPr>
            <p:cNvPr id="36" name="Line 36"/>
            <p:cNvSpPr/>
            <p:nvPr/>
          </p:nvSpPr>
          <p:spPr>
            <a:xfrm>
              <a:off x="6143625" y="22764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4288" cap="rnd">
              <a:solidFill>
                <a:srgbClr val="00ACC1"/>
              </a:solidFill>
              <a:round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5760053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厂家发货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Line 39"/>
          <p:cNvSpPr/>
          <p:nvPr/>
        </p:nvSpPr>
        <p:spPr>
          <a:xfrm>
            <a:off x="6457950" y="2362200"/>
            <a:ext cx="828675" cy="1"/>
          </a:xfrm>
          <a:prstGeom prst="line">
            <a:avLst/>
          </a:prstGeom>
          <a:noFill/>
          <a:ln w="17145">
            <a:solidFill>
              <a:srgbClr val="00ACC1"/>
            </a:solidFill>
            <a:tailEnd type="triangle" w="lg" len="lg"/>
          </a:ln>
        </p:spPr>
      </p:sp>
      <p:sp>
        <p:nvSpPr>
          <p:cNvPr id="40" name="Ellipse 40"/>
          <p:cNvSpPr/>
          <p:nvPr/>
        </p:nvSpPr>
        <p:spPr>
          <a:xfrm>
            <a:off x="7362825" y="2152650"/>
            <a:ext cx="419100" cy="419100"/>
          </a:xfrm>
          <a:prstGeom prst="ellipse">
            <a:avLst/>
          </a:prstGeom>
          <a:solidFill>
            <a:srgbClr val="F0FAFB"/>
          </a:solidFill>
          <a:ln w="23812">
            <a:solidFill>
              <a:srgbClr val="00ACC1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7496175" y="2286000"/>
            <a:ext cx="152400" cy="152400"/>
            <a:chOff x="7496175" y="2286000"/>
            <a:chExt cx="152400" cy="152400"/>
          </a:xfrm>
        </p:grpSpPr>
        <p:sp>
          <p:nvSpPr>
            <p:cNvPr id="41" name="Ellipse 41"/>
            <p:cNvSpPr/>
            <p:nvPr/>
          </p:nvSpPr>
          <p:spPr>
            <a:xfrm>
              <a:off x="7496175" y="2286000"/>
              <a:ext cx="152400" cy="152400"/>
            </a:xfrm>
            <a:prstGeom prst="ellipse">
              <a:avLst/>
            </a:prstGeom>
            <a:noFill/>
            <a:ln w="14288">
              <a:solidFill>
                <a:srgbClr val="00ACC1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534275" y="2286000"/>
              <a:ext cx="76200" cy="152400"/>
            </a:xfrm>
            <a:prstGeom prst="ellipse">
              <a:avLst/>
            </a:prstGeom>
            <a:noFill/>
            <a:ln w="14288">
              <a:solidFill>
                <a:srgbClr val="00ACC1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7496175" y="23622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4288">
              <a:solidFill>
                <a:srgbClr val="00ACC1"/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7141178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海外物流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7839075" y="2362200"/>
            <a:ext cx="828675" cy="1"/>
          </a:xfrm>
          <a:prstGeom prst="line">
            <a:avLst/>
          </a:prstGeom>
          <a:noFill/>
          <a:ln w="17145">
            <a:solidFill>
              <a:srgbClr val="00ACC1"/>
            </a:solidFill>
            <a:tailEnd type="triangle" w="lg" len="lg"/>
          </a:ln>
        </p:spPr>
      </p:sp>
      <p:sp>
        <p:nvSpPr>
          <p:cNvPr id="47" name="Ellipse 47"/>
          <p:cNvSpPr/>
          <p:nvPr/>
        </p:nvSpPr>
        <p:spPr>
          <a:xfrm>
            <a:off x="8743950" y="2152650"/>
            <a:ext cx="419100" cy="419100"/>
          </a:xfrm>
          <a:prstGeom prst="ellipse">
            <a:avLst/>
          </a:prstGeom>
          <a:solidFill>
            <a:srgbClr val="F0FAFB"/>
          </a:solidFill>
          <a:ln w="23812">
            <a:solidFill>
              <a:srgbClr val="00ACC1"/>
            </a:solidFill>
          </a:ln>
        </p:spPr>
      </p:sp>
      <p:grpSp>
        <p:nvGrpSpPr>
          <p:cNvPr id="52" name="Group 52"/>
          <p:cNvGrpSpPr/>
          <p:nvPr/>
        </p:nvGrpSpPr>
        <p:grpSpPr>
          <a:xfrm>
            <a:off x="8896350" y="2286000"/>
            <a:ext cx="114300" cy="171450"/>
            <a:chOff x="8896350" y="2286000"/>
            <a:chExt cx="114300" cy="171450"/>
          </a:xfrm>
        </p:grpSpPr>
        <p:sp>
          <p:nvSpPr>
            <p:cNvPr id="48" name="Rectangle 48"/>
            <p:cNvSpPr/>
            <p:nvPr/>
          </p:nvSpPr>
          <p:spPr>
            <a:xfrm>
              <a:off x="8896350" y="2324100"/>
              <a:ext cx="114300" cy="133350"/>
            </a:xfrm>
            <a:prstGeom prst="roundRect">
              <a:avLst>
                <a:gd name="adj" fmla="val 12500"/>
              </a:avLst>
            </a:prstGeom>
            <a:noFill/>
            <a:ln w="14288" cap="rnd">
              <a:solidFill>
                <a:srgbClr val="00ACC1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924925" y="2286000"/>
              <a:ext cx="57150" cy="47625"/>
            </a:xfrm>
            <a:prstGeom prst="roundRect">
              <a:avLst>
                <a:gd name="adj" fmla="val 20000"/>
              </a:avLst>
            </a:prstGeom>
            <a:noFill/>
            <a:ln w="14288" cap="rnd">
              <a:solidFill>
                <a:srgbClr val="00ACC1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8924925" y="238125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 cap="rnd">
              <a:solidFill>
                <a:srgbClr val="00ACC1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8924925" y="24098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 cap="rnd">
              <a:solidFill>
                <a:srgbClr val="00ACC1"/>
              </a:solidFill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522303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清关报关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Line 54"/>
          <p:cNvSpPr/>
          <p:nvPr/>
        </p:nvSpPr>
        <p:spPr>
          <a:xfrm>
            <a:off x="9220200" y="2362200"/>
            <a:ext cx="828675" cy="1"/>
          </a:xfrm>
          <a:prstGeom prst="line">
            <a:avLst/>
          </a:prstGeom>
          <a:noFill/>
          <a:ln w="17145">
            <a:solidFill>
              <a:srgbClr val="00ACC1"/>
            </a:solidFill>
            <a:tailEnd type="triangle" w="lg" len="lg"/>
          </a:ln>
        </p:spPr>
      </p:sp>
      <p:sp>
        <p:nvSpPr>
          <p:cNvPr id="55" name="Ellipse 55"/>
          <p:cNvSpPr/>
          <p:nvPr/>
        </p:nvSpPr>
        <p:spPr>
          <a:xfrm>
            <a:off x="10125075" y="2152650"/>
            <a:ext cx="419100" cy="419100"/>
          </a:xfrm>
          <a:prstGeom prst="ellipse">
            <a:avLst/>
          </a:prstGeom>
          <a:solidFill>
            <a:srgbClr val="F0FAFB"/>
          </a:solidFill>
          <a:ln w="23812">
            <a:solidFill>
              <a:srgbClr val="00ACC1"/>
            </a:solidFill>
          </a:ln>
        </p:spPr>
      </p:sp>
      <p:grpSp>
        <p:nvGrpSpPr>
          <p:cNvPr id="58" name="Group 58"/>
          <p:cNvGrpSpPr/>
          <p:nvPr/>
        </p:nvGrpSpPr>
        <p:grpSpPr>
          <a:xfrm>
            <a:off x="10248900" y="2276475"/>
            <a:ext cx="171450" cy="171450"/>
            <a:chOff x="10248900" y="2276475"/>
            <a:chExt cx="171450" cy="171450"/>
          </a:xfrm>
        </p:grpSpPr>
        <p:sp>
          <p:nvSpPr>
            <p:cNvPr id="56" name="Ellipse 56"/>
            <p:cNvSpPr/>
            <p:nvPr/>
          </p:nvSpPr>
          <p:spPr>
            <a:xfrm>
              <a:off x="10248900" y="2276475"/>
              <a:ext cx="171450" cy="171450"/>
            </a:xfrm>
            <a:prstGeom prst="ellipse">
              <a:avLst/>
            </a:prstGeom>
            <a:noFill/>
            <a:ln w="14288" cap="rnd">
              <a:solidFill>
                <a:srgbClr val="00ACC1"/>
              </a:solidFill>
              <a:round/>
            </a:ln>
          </p:spPr>
        </p:sp>
        <p:sp>
          <p:nvSpPr>
            <p:cNvPr id="57" name="Polyline 57"/>
            <p:cNvSpPr/>
            <p:nvPr/>
          </p:nvSpPr>
          <p:spPr>
            <a:xfrm>
              <a:off x="10287000" y="23241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38100"/>
                  </a:moveTo>
                  <a:lnTo>
                    <a:pt x="28575" y="76200"/>
                  </a:lnTo>
                  <a:lnTo>
                    <a:pt x="95250" y="0"/>
                  </a:lnTo>
                </a:path>
              </a:pathLst>
            </a:custGeom>
            <a:noFill/>
            <a:ln w="14288" cap="rnd">
              <a:solidFill>
                <a:srgbClr val="00ACC1"/>
              </a:solidFill>
              <a:round/>
            </a:ln>
          </p:spPr>
        </p:sp>
      </p:grpSp>
      <p:sp>
        <p:nvSpPr>
          <p:cNvPr id="59" name="TextBox 59"/>
          <p:cNvSpPr txBox="1"/>
          <p:nvPr/>
        </p:nvSpPr>
        <p:spPr>
          <a:xfrm>
            <a:off x="9903428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到货验收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Line 60"/>
          <p:cNvSpPr/>
          <p:nvPr/>
        </p:nvSpPr>
        <p:spPr>
          <a:xfrm>
            <a:off x="10601325" y="2362200"/>
            <a:ext cx="828675" cy="1"/>
          </a:xfrm>
          <a:prstGeom prst="line">
            <a:avLst/>
          </a:prstGeom>
          <a:noFill/>
          <a:ln w="17145">
            <a:solidFill>
              <a:srgbClr val="1565C0"/>
            </a:solidFill>
            <a:tailEnd type="triangle" w="lg" len="lg"/>
          </a:ln>
        </p:spPr>
      </p:sp>
      <p:sp>
        <p:nvSpPr>
          <p:cNvPr id="61" name="Ellipse 61"/>
          <p:cNvSpPr/>
          <p:nvPr/>
        </p:nvSpPr>
        <p:spPr>
          <a:xfrm>
            <a:off x="11506200" y="2152650"/>
            <a:ext cx="419100" cy="419100"/>
          </a:xfrm>
          <a:prstGeom prst="ellipse">
            <a:avLst/>
          </a:prstGeom>
          <a:noFill/>
          <a:ln w="23812">
            <a:solidFill>
              <a:srgbClr val="1565C0"/>
            </a:solidFill>
          </a:ln>
        </p:spPr>
      </p:sp>
      <p:grpSp>
        <p:nvGrpSpPr>
          <p:cNvPr id="64" name="Group 64"/>
          <p:cNvGrpSpPr/>
          <p:nvPr/>
        </p:nvGrpSpPr>
        <p:grpSpPr>
          <a:xfrm>
            <a:off x="11639550" y="2314575"/>
            <a:ext cx="152400" cy="95250"/>
            <a:chOff x="11639550" y="2314575"/>
            <a:chExt cx="152400" cy="95250"/>
          </a:xfrm>
        </p:grpSpPr>
        <p:sp>
          <p:nvSpPr>
            <p:cNvPr id="62" name="Rectangle 62"/>
            <p:cNvSpPr/>
            <p:nvPr/>
          </p:nvSpPr>
          <p:spPr>
            <a:xfrm>
              <a:off x="11639550" y="2314575"/>
              <a:ext cx="152400" cy="95250"/>
            </a:xfrm>
            <a:prstGeom prst="roundRect">
              <a:avLst>
                <a:gd name="adj" fmla="val 20000"/>
              </a:avLst>
            </a:prstGeom>
            <a:noFill/>
            <a:ln w="14288">
              <a:solidFill>
                <a:srgbClr val="1565C0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11639550" y="23622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9525">
              <a:solidFill>
                <a:srgbClr val="1565C0"/>
              </a:solidFill>
            </a:ln>
          </p:spPr>
        </p:sp>
      </p:grpSp>
      <p:sp>
        <p:nvSpPr>
          <p:cNvPr id="65" name="TextBox 65"/>
          <p:cNvSpPr txBox="1"/>
          <p:nvPr/>
        </p:nvSpPr>
        <p:spPr>
          <a:xfrm>
            <a:off x="11649904" y="229933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¥</a:t>
            </a:r>
            <a:endParaRPr lang="zh-CN" sz="12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11284553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支付结算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Rectangle 67"/>
          <p:cNvSpPr/>
          <p:nvPr/>
        </p:nvSpPr>
        <p:spPr>
          <a:xfrm>
            <a:off x="457200" y="2990850"/>
            <a:ext cx="5038725" cy="247650"/>
          </a:xfrm>
          <a:prstGeom prst="roundRect">
            <a:avLst>
              <a:gd name="adj" fmla="val 23077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2022643" y="3032760"/>
            <a:ext cx="18983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普华系统 · 流程存档层</a:t>
            </a:r>
            <a:endParaRPr lang="zh-CN" sz="12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Rectangle 69"/>
          <p:cNvSpPr/>
          <p:nvPr/>
        </p:nvSpPr>
        <p:spPr>
          <a:xfrm>
            <a:off x="5495925" y="2990850"/>
            <a:ext cx="5524500" cy="247650"/>
          </a:xfrm>
          <a:prstGeom prst="roundRect">
            <a:avLst>
              <a:gd name="adj" fmla="val 23077"/>
            </a:avLst>
          </a:prstGeom>
          <a:solidFill>
            <a:srgbClr val="00ACC1">
              <a:alpha val="10000"/>
            </a:srgbClr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6733946" y="3032760"/>
            <a:ext cx="30484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ACC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智慧工地 2.0 延伸范围 · 实物追踪层</a:t>
            </a:r>
            <a:endParaRPr lang="zh-CN" sz="1200" b="1" dirty="0">
              <a:solidFill>
                <a:srgbClr val="00ACC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Rectangle 71"/>
          <p:cNvSpPr/>
          <p:nvPr/>
        </p:nvSpPr>
        <p:spPr>
          <a:xfrm>
            <a:off x="11020425" y="2990850"/>
            <a:ext cx="904875" cy="247650"/>
          </a:xfrm>
          <a:prstGeom prst="roundRect">
            <a:avLst>
              <a:gd name="adj" fmla="val 23077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1268837" y="30327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普华</a:t>
            </a:r>
            <a:endParaRPr lang="zh-CN" sz="12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3" name="Rectangle 73"/>
          <p:cNvSpPr/>
          <p:nvPr/>
        </p:nvSpPr>
        <p:spPr>
          <a:xfrm>
            <a:off x="523875" y="4762500"/>
            <a:ext cx="5429250" cy="10953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523875" y="4762500"/>
            <a:ext cx="57150" cy="1095375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grpSp>
        <p:nvGrpSpPr>
          <p:cNvPr id="77" name="Group 77"/>
          <p:cNvGrpSpPr/>
          <p:nvPr/>
        </p:nvGrpSpPr>
        <p:grpSpPr>
          <a:xfrm>
            <a:off x="742950" y="4933950"/>
            <a:ext cx="161925" cy="180975"/>
            <a:chOff x="742950" y="4933950"/>
            <a:chExt cx="161925" cy="180975"/>
          </a:xfrm>
        </p:grpSpPr>
        <p:sp>
          <p:nvSpPr>
            <p:cNvPr id="75" name="Ellipse 75"/>
            <p:cNvSpPr/>
            <p:nvPr/>
          </p:nvSpPr>
          <p:spPr>
            <a:xfrm>
              <a:off x="742950" y="4933950"/>
              <a:ext cx="133350" cy="133350"/>
            </a:xfrm>
            <a:prstGeom prst="ellipse">
              <a:avLst/>
            </a:prstGeom>
            <a:noFill/>
            <a:ln w="14288" cap="rnd">
              <a:solidFill>
                <a:srgbClr val="1565C0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857250" y="506730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47625"/>
                  </a:lnTo>
                </a:path>
              </a:pathLst>
            </a:custGeom>
            <a:noFill/>
            <a:ln w="14288" cap="rnd">
              <a:solidFill>
                <a:srgbClr val="1565C0"/>
              </a:solidFill>
            </a:ln>
          </p:spPr>
        </p:sp>
      </p:grpSp>
      <p:sp>
        <p:nvSpPr>
          <p:cNvPr id="78" name="TextBox 78"/>
          <p:cNvSpPr txBox="1"/>
          <p:nvPr/>
        </p:nvSpPr>
        <p:spPr>
          <a:xfrm>
            <a:off x="1089660" y="49282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核心技术支撑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840105" y="5169218"/>
            <a:ext cx="57225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通过</a:t>
            </a:r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OCR智能识别智能体</a:t>
            </a:r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自动从发货单、装箱单中提取物料明细，</a:t>
            </a:r>
            <a:endParaRPr lang="zh-CN" sz="1350" dirty="0">
              <a:solidFill>
                <a:srgbClr val="55555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840105" y="5378768"/>
            <a:ext cx="56535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并与物流公司</a:t>
            </a:r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API实时对接</a:t>
            </a:r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，实现数据的自动"投喂"与自动更新。</a:t>
            </a:r>
            <a:endParaRPr lang="zh-CN" sz="1350" dirty="0">
              <a:solidFill>
                <a:srgbClr val="55555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1" name="Rectangle 81"/>
          <p:cNvSpPr/>
          <p:nvPr/>
        </p:nvSpPr>
        <p:spPr>
          <a:xfrm>
            <a:off x="6238875" y="4762500"/>
            <a:ext cx="5429250" cy="10953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82" name="Rectangle 82"/>
          <p:cNvSpPr/>
          <p:nvPr/>
        </p:nvSpPr>
        <p:spPr>
          <a:xfrm>
            <a:off x="6238875" y="4762500"/>
            <a:ext cx="57150" cy="1095375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</p:sp>
      <p:grpSp>
        <p:nvGrpSpPr>
          <p:cNvPr id="86" name="Group 86"/>
          <p:cNvGrpSpPr/>
          <p:nvPr/>
        </p:nvGrpSpPr>
        <p:grpSpPr>
          <a:xfrm>
            <a:off x="6457950" y="4933950"/>
            <a:ext cx="133350" cy="152400"/>
            <a:chOff x="6457950" y="4933950"/>
            <a:chExt cx="133350" cy="152400"/>
          </a:xfrm>
        </p:grpSpPr>
        <p:sp>
          <p:nvSpPr>
            <p:cNvPr id="83" name="Ellipse 83"/>
            <p:cNvSpPr/>
            <p:nvPr/>
          </p:nvSpPr>
          <p:spPr>
            <a:xfrm>
              <a:off x="6457950" y="4933950"/>
              <a:ext cx="133350" cy="133350"/>
            </a:xfrm>
            <a:prstGeom prst="ellipse">
              <a:avLst/>
            </a:prstGeom>
            <a:noFill/>
            <a:ln w="14288" cap="rnd">
              <a:solidFill>
                <a:srgbClr val="00ACC1"/>
              </a:solidFill>
              <a:round/>
            </a:ln>
          </p:spPr>
        </p:sp>
        <p:sp>
          <p:nvSpPr>
            <p:cNvPr id="84" name="Line 84"/>
            <p:cNvSpPr/>
            <p:nvPr/>
          </p:nvSpPr>
          <p:spPr>
            <a:xfrm>
              <a:off x="6496050" y="50768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4288" cap="rnd">
              <a:solidFill>
                <a:srgbClr val="00ACC1"/>
              </a:solidFill>
              <a:round/>
            </a:ln>
          </p:spPr>
        </p:sp>
        <p:sp>
          <p:nvSpPr>
            <p:cNvPr id="85" name="Polyline 85"/>
            <p:cNvSpPr/>
            <p:nvPr/>
          </p:nvSpPr>
          <p:spPr>
            <a:xfrm>
              <a:off x="6505575" y="505777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0" y="0"/>
                  </a:moveTo>
                  <a:lnTo>
                    <a:pt x="0" y="19050"/>
                  </a:lnTo>
                  <a:lnTo>
                    <a:pt x="19050" y="19050"/>
                  </a:lnTo>
                </a:path>
              </a:pathLst>
            </a:custGeom>
            <a:noFill/>
            <a:ln w="14288" cap="rnd">
              <a:solidFill>
                <a:srgbClr val="00ACC1"/>
              </a:solidFill>
              <a:round/>
            </a:ln>
          </p:spPr>
        </p:sp>
      </p:grpSp>
      <p:sp>
        <p:nvSpPr>
          <p:cNvPr id="87" name="TextBox 87"/>
          <p:cNvSpPr txBox="1"/>
          <p:nvPr/>
        </p:nvSpPr>
        <p:spPr>
          <a:xfrm>
            <a:off x="6804660" y="49282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管理价值跨越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6555105" y="5169218"/>
            <a:ext cx="4411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管理重心从"流程是否走完"转向"</a:t>
            </a:r>
            <a:r>
              <a:rPr lang="zh-CN" sz="1350" b="1" dirty="0">
                <a:solidFill>
                  <a:srgbClr val="00ACC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物料是否到位</a:t>
            </a:r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"。</a:t>
            </a:r>
            <a:endParaRPr lang="zh-CN" sz="1350" dirty="0">
              <a:solidFill>
                <a:srgbClr val="55555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6555105" y="5378768"/>
            <a:ext cx="46677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尤其针对海外项目，能够提前</a:t>
            </a:r>
            <a:r>
              <a:rPr lang="zh-CN" sz="1350" b="1" dirty="0">
                <a:solidFill>
                  <a:srgbClr val="00ACC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15-30天</a:t>
            </a:r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预知到货风险，</a:t>
            </a:r>
            <a:endParaRPr lang="zh-CN" sz="1350" dirty="0">
              <a:solidFill>
                <a:srgbClr val="55555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6555105" y="55883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为现场施工排产提供精准依据。</a:t>
            </a:r>
            <a:endParaRPr lang="zh-CN" sz="1350" dirty="0">
              <a:solidFill>
                <a:srgbClr val="55555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17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1186679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物流案例：Galoya 蒸发线 — 7 类单据 OCR 串联 · 关联矩阵 · 自动对量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07695" y="1312545"/>
            <a:ext cx="1720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 类跨境单据 OCR 扫描入参</a:t>
            </a:r>
            <a:endParaRPr lang="zh-CN" sz="900" b="1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619125" y="1524000"/>
            <a:ext cx="40957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1565C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19125" y="15240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69620" y="1655445"/>
            <a:ext cx="12443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货物出厂箱件清单</a:t>
            </a:r>
            <a:endParaRPr lang="zh-CN" sz="9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62225" y="1671638"/>
            <a:ext cx="14923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合同号 · 供应商 · 设备 · 重量</a:t>
            </a:r>
            <a:endParaRPr lang="zh-CN" sz="750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76275" y="1581150"/>
            <a:ext cx="40957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1565C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76275" y="158115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26770" y="1712595"/>
            <a:ext cx="6922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② 装箱清单</a:t>
            </a:r>
            <a:endParaRPr lang="zh-CN" sz="9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85975" y="1728788"/>
            <a:ext cx="19140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集装箱号 · 封箱号 · 总毛重 80,980 kg</a:t>
            </a:r>
            <a:endParaRPr lang="zh-CN" sz="750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733425" y="1638300"/>
            <a:ext cx="40957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1565C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33425" y="16383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3920" y="1769745"/>
            <a:ext cx="5542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③ 报关单</a:t>
            </a:r>
            <a:endParaRPr lang="zh-CN" sz="9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085975" y="1785938"/>
            <a:ext cx="25931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海关编号 530420260000636063 · 提运单号 E08260…</a:t>
            </a:r>
            <a:endParaRPr lang="zh-CN" sz="750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790575" y="1695450"/>
            <a:ext cx="40957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1565C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90575" y="169545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1070" y="1826895"/>
            <a:ext cx="6922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④ 海运提单</a:t>
            </a:r>
            <a:endParaRPr lang="zh-CN" sz="9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085975" y="1843088"/>
            <a:ext cx="26589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提单号 GGZ2939716 · 船名 OOCL HAMBURG · CMA CGM</a:t>
            </a:r>
            <a:endParaRPr lang="zh-CN" sz="750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847725" y="1752600"/>
            <a:ext cx="40957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ED6C02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47725" y="17526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ED6C0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98220" y="1884045"/>
            <a:ext cx="6922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⑤ 原产地证</a:t>
            </a:r>
            <a:endParaRPr lang="zh-CN" sz="9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085975" y="1900238"/>
            <a:ext cx="26150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发票号 ADDENDUM/CI01 · HS 8438.30 · 亚太贸易协定</a:t>
            </a:r>
            <a:endParaRPr lang="zh-CN" sz="750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904875" y="1809750"/>
            <a:ext cx="40957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ED6C02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04875" y="180975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ED6C0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55370" y="1941195"/>
            <a:ext cx="6922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⑥ 商业发票</a:t>
            </a:r>
            <a:endParaRPr lang="zh-CN" sz="9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085975" y="1957388"/>
            <a:ext cx="24836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合同号 GAL/FAC/PO/001 · 总值 USD 355,213 · CIF</a:t>
            </a:r>
            <a:endParaRPr lang="zh-CN" sz="750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962025" y="1866900"/>
            <a:ext cx="40957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ED6C0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62025" y="18669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ED6C0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12520" y="1998345"/>
            <a:ext cx="5542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⑦ 保险单</a:t>
            </a:r>
            <a:endParaRPr lang="zh-CN" sz="9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085975" y="2014538"/>
            <a:ext cx="25110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保单 PYIE2026…1488 · 保险 USD 390,735 · CIF 110%</a:t>
            </a:r>
            <a:endParaRPr lang="zh-CN" sz="750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619125" y="23812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33425" y="2376488"/>
            <a:ext cx="16730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物流追踪链（柜号→提运单→提单）</a:t>
            </a:r>
            <a:endParaRPr lang="zh-CN" sz="7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2857500" y="23812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ED6C0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2971800" y="2376488"/>
            <a:ext cx="11308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D6C0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采购溯源 / 清关配对链</a:t>
            </a:r>
            <a:endParaRPr lang="zh-CN" sz="750" dirty="0">
              <a:solidFill>
                <a:srgbClr val="ED6C0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619125" y="2590800"/>
            <a:ext cx="4095750" cy="1666875"/>
          </a:xfrm>
          <a:prstGeom prst="roundRect">
            <a:avLst>
              <a:gd name="adj" fmla="val 2286"/>
            </a:avLst>
          </a:prstGeom>
          <a:noFill/>
          <a:ln w="9525">
            <a:solidFill>
              <a:srgbClr val="D0D8E0"/>
            </a:solidFill>
          </a:ln>
        </p:spPr>
      </p:sp>
      <p:pic>
        <p:nvPicPr>
          <p:cNvPr id="40" name="Imag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623722"/>
            <a:ext cx="4038600" cy="1601031"/>
          </a:xfrm>
          <a:prstGeom prst="rect">
            <a:avLst/>
          </a:prstGeom>
        </p:spPr>
      </p:pic>
      <p:sp>
        <p:nvSpPr>
          <p:cNvPr id="41" name="Rectangle 41"/>
          <p:cNvSpPr/>
          <p:nvPr/>
        </p:nvSpPr>
        <p:spPr>
          <a:xfrm>
            <a:off x="5286375" y="1285875"/>
            <a:ext cx="6381750" cy="2667000"/>
          </a:xfrm>
          <a:prstGeom prst="roundRect">
            <a:avLst>
              <a:gd name="adj" fmla="val 2143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332263" y="1399699"/>
            <a:ext cx="22899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关联字段矩阵（12 字段 × 7 单据）</a:t>
            </a:r>
            <a:endParaRPr lang="zh-CN" sz="9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5476875" y="1600200"/>
            <a:ext cx="6000750" cy="9525"/>
          </a:xfrm>
          <a:custGeom>
            <a:avLst/>
            <a:gdLst/>
            <a:ahLst/>
            <a:cxnLst/>
            <a:rect l="l" t="t" r="r" b="b"/>
            <a:pathLst>
              <a:path w="6000750" h="9525">
                <a:moveTo>
                  <a:pt x="0" y="0"/>
                </a:moveTo>
                <a:lnTo>
                  <a:pt x="6000750" y="0"/>
                </a:lnTo>
              </a:path>
            </a:pathLst>
          </a:custGeom>
          <a:noFill/>
          <a:ln w="9525">
            <a:solidFill>
              <a:srgbClr val="E8ECF0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5381625" y="1657350"/>
            <a:ext cx="6191250" cy="19050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468302" y="1717834"/>
            <a:ext cx="4311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关联字段</a:t>
            </a:r>
            <a:endParaRPr lang="zh-CN" sz="675" b="1" dirty="0">
              <a:solidFill>
                <a:srgbClr val="55555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277928" y="1717834"/>
            <a:ext cx="32768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实例值</a:t>
            </a:r>
            <a:endParaRPr lang="zh-CN" sz="675" b="1" dirty="0">
              <a:solidFill>
                <a:srgbClr val="55555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7590315" y="1725930"/>
            <a:ext cx="24986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①箱件</a:t>
            </a:r>
            <a:endParaRPr lang="zh-CN" sz="6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7990365" y="1725930"/>
            <a:ext cx="24986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②装箱</a:t>
            </a:r>
            <a:endParaRPr lang="zh-CN" sz="6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390415" y="1725930"/>
            <a:ext cx="24986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③报关</a:t>
            </a:r>
            <a:endParaRPr lang="zh-CN" sz="6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790465" y="1725930"/>
            <a:ext cx="24986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④提单</a:t>
            </a:r>
            <a:endParaRPr lang="zh-CN" sz="6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190515" y="1725930"/>
            <a:ext cx="24986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ED6C0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⑤产地</a:t>
            </a:r>
            <a:endParaRPr lang="zh-CN" sz="600" b="1" dirty="0">
              <a:solidFill>
                <a:srgbClr val="ED6C0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590565" y="1725930"/>
            <a:ext cx="24986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ED6C0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⑥发票</a:t>
            </a:r>
            <a:endParaRPr lang="zh-CN" sz="600" b="1" dirty="0">
              <a:solidFill>
                <a:srgbClr val="ED6C0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990615" y="1725930"/>
            <a:ext cx="24986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ED6C0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⑦保险</a:t>
            </a:r>
            <a:endParaRPr lang="zh-CN" sz="600" b="1" dirty="0">
              <a:solidFill>
                <a:srgbClr val="ED6C0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29" name="Group 129"/>
          <p:cNvGrpSpPr/>
          <p:nvPr/>
        </p:nvGrpSpPr>
        <p:grpSpPr>
          <a:xfrm>
            <a:off x="5381625" y="1866900"/>
            <a:ext cx="6191250" cy="2178844"/>
            <a:chOff x="5381625" y="1866900"/>
            <a:chExt cx="6191250" cy="2178844"/>
          </a:xfrm>
        </p:grpSpPr>
        <p:sp>
          <p:nvSpPr>
            <p:cNvPr id="54" name="Rectangle 54"/>
            <p:cNvSpPr/>
            <p:nvPr/>
          </p:nvSpPr>
          <p:spPr>
            <a:xfrm>
              <a:off x="5381625" y="1866900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68302" y="1917859"/>
              <a:ext cx="3276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合同号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77928" y="1917859"/>
              <a:ext cx="77131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GAL/FAC/PO/001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Ellipse 57"/>
            <p:cNvSpPr/>
            <p:nvPr/>
          </p:nvSpPr>
          <p:spPr>
            <a:xfrm>
              <a:off x="9801225" y="192405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0201275" y="192405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81625" y="2047875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68302" y="2098834"/>
              <a:ext cx="43119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信用证号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77928" y="2098834"/>
              <a:ext cx="66779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TF2603044475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Ellipse 62"/>
            <p:cNvSpPr/>
            <p:nvPr/>
          </p:nvSpPr>
          <p:spPr>
            <a:xfrm>
              <a:off x="9401175" y="210502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801225" y="210502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81625" y="2228850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468302" y="2279809"/>
              <a:ext cx="3276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发票号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77928" y="2279809"/>
              <a:ext cx="95862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ADDENDUM NO.2/CI01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Ellipse 67"/>
            <p:cNvSpPr/>
            <p:nvPr/>
          </p:nvSpPr>
          <p:spPr>
            <a:xfrm>
              <a:off x="9401175" y="228600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9801225" y="228600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81625" y="2409825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468302" y="2460784"/>
              <a:ext cx="53471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形式发票号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77928" y="2460784"/>
              <a:ext cx="112128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ADDENDUM NO.2/2025-11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Ellipse 72"/>
            <p:cNvSpPr/>
            <p:nvPr/>
          </p:nvSpPr>
          <p:spPr>
            <a:xfrm>
              <a:off x="9401175" y="246697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0201275" y="246697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381625" y="2590800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468302" y="2641759"/>
              <a:ext cx="3276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提单号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77928" y="2641759"/>
              <a:ext cx="53471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GGZ2939716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Ellipse 77"/>
            <p:cNvSpPr/>
            <p:nvPr/>
          </p:nvSpPr>
          <p:spPr>
            <a:xfrm>
              <a:off x="8601075" y="26479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9001125" y="26479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5381625" y="2771775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468302" y="2822734"/>
              <a:ext cx="43119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集装箱号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277928" y="2822734"/>
              <a:ext cx="90439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SEGU7715371 等 8 柜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Ellipse 82"/>
            <p:cNvSpPr/>
            <p:nvPr/>
          </p:nvSpPr>
          <p:spPr>
            <a:xfrm>
              <a:off x="8201025" y="28289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8601075" y="28289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9001125" y="28289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5381625" y="2952750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468302" y="3003709"/>
              <a:ext cx="48812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船名/航次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277928" y="3003709"/>
              <a:ext cx="131845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OOCL HAMBURG / 0FBH5W1MA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Ellipse 88"/>
            <p:cNvSpPr/>
            <p:nvPr/>
          </p:nvSpPr>
          <p:spPr>
            <a:xfrm>
              <a:off x="9001125" y="30099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0201275" y="300990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5381625" y="3133725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468302" y="3184684"/>
              <a:ext cx="3276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发货人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277928" y="3184684"/>
              <a:ext cx="129873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中国轻工业广州工程有限公司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3" name="Ellipse 93"/>
            <p:cNvSpPr/>
            <p:nvPr/>
          </p:nvSpPr>
          <p:spPr>
            <a:xfrm>
              <a:off x="7800975" y="31908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8201025" y="31908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8601075" y="31908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9001125" y="31908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9401175" y="319087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9801225" y="319087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10201275" y="319087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381625" y="3314700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468302" y="3365659"/>
              <a:ext cx="3276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收货人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277928" y="3365659"/>
              <a:ext cx="78609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凭 DFCC 银行指示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8601075" y="33718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9001125" y="33718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9401175" y="337185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9801225" y="337185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10201275" y="337185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5381625" y="3495675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5468302" y="3546634"/>
              <a:ext cx="36908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HS 编码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277928" y="3546634"/>
              <a:ext cx="39669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8438.30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1" name="Ellipse 111"/>
            <p:cNvSpPr/>
            <p:nvPr/>
          </p:nvSpPr>
          <p:spPr>
            <a:xfrm>
              <a:off x="8601075" y="35528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9001125" y="35528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9401175" y="355282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9801225" y="355282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10201275" y="3552825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5381625" y="3676650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5468302" y="3727609"/>
              <a:ext cx="43119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运输路线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277928" y="3727609"/>
              <a:ext cx="6234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蛇口 → 科伦坡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9" name="Ellipse 119"/>
            <p:cNvSpPr/>
            <p:nvPr/>
          </p:nvSpPr>
          <p:spPr>
            <a:xfrm>
              <a:off x="8601075" y="37338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9001125" y="37338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9401175" y="373380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10201275" y="3733800"/>
              <a:ext cx="57150" cy="57150"/>
            </a:xfrm>
            <a:prstGeom prst="ellipse">
              <a:avLst/>
            </a:prstGeom>
            <a:solidFill>
              <a:srgbClr val="ED6C02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5381625" y="3857625"/>
              <a:ext cx="6191250" cy="171450"/>
            </a:xfrm>
            <a:prstGeom prst="roundRect">
              <a:avLst>
                <a:gd name="adj" fmla="val 5556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5468302" y="3908584"/>
              <a:ext cx="22417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重量</a:t>
              </a:r>
              <a:endParaRPr lang="zh-CN" sz="6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6277928" y="3908584"/>
              <a:ext cx="58893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~80,980 KGS</a:t>
              </a:r>
              <a:endParaRPr lang="zh-CN" sz="67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6" name="Ellipse 126"/>
            <p:cNvSpPr/>
            <p:nvPr/>
          </p:nvSpPr>
          <p:spPr>
            <a:xfrm>
              <a:off x="7800975" y="39147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8201025" y="39147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9001125" y="39147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</p:grpSp>
      <p:sp>
        <p:nvSpPr>
          <p:cNvPr id="130" name="TextBox 130"/>
          <p:cNvSpPr txBox="1"/>
          <p:nvPr/>
        </p:nvSpPr>
        <p:spPr>
          <a:xfrm>
            <a:off x="607695" y="4284345"/>
            <a:ext cx="22932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E9E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场景化应用：从单据 OCR 到业务决策</a:t>
            </a:r>
            <a:endParaRPr lang="zh-CN" sz="900" b="1" dirty="0">
              <a:solidFill>
                <a:srgbClr val="9E9E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1" name="Rectangle 131"/>
          <p:cNvSpPr/>
          <p:nvPr/>
        </p:nvSpPr>
        <p:spPr>
          <a:xfrm>
            <a:off x="619125" y="4524375"/>
            <a:ext cx="3524250" cy="1333500"/>
          </a:xfrm>
          <a:prstGeom prst="roundRect">
            <a:avLst>
              <a:gd name="adj" fmla="val 4286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132" name="Rectangle 132"/>
          <p:cNvSpPr/>
          <p:nvPr/>
        </p:nvSpPr>
        <p:spPr>
          <a:xfrm>
            <a:off x="619125" y="4524375"/>
            <a:ext cx="3524250" cy="342900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133" name="Ellipse 133"/>
          <p:cNvSpPr/>
          <p:nvPr/>
        </p:nvSpPr>
        <p:spPr>
          <a:xfrm>
            <a:off x="771525" y="4610100"/>
            <a:ext cx="171450" cy="171450"/>
          </a:xfrm>
          <a:prstGeom prst="ellipse">
            <a:avLst/>
          </a:prstGeom>
          <a:noFill/>
          <a:ln w="14288">
            <a:solidFill>
              <a:srgbClr val="1565C0"/>
            </a:solidFill>
          </a:ln>
        </p:spPr>
      </p:sp>
      <p:sp>
        <p:nvSpPr>
          <p:cNvPr id="134" name="TextBox 134"/>
          <p:cNvSpPr txBox="1"/>
          <p:nvPr/>
        </p:nvSpPr>
        <p:spPr>
          <a:xfrm>
            <a:off x="830473" y="4652962"/>
            <a:ext cx="535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7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5" name="TextBox 135"/>
          <p:cNvSpPr txBox="1"/>
          <p:nvPr/>
        </p:nvSpPr>
        <p:spPr>
          <a:xfrm>
            <a:off x="1053465" y="46301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物流状态还原</a:t>
            </a:r>
            <a:endParaRPr lang="zh-CN" sz="10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40" name="Group 140"/>
          <p:cNvGrpSpPr/>
          <p:nvPr/>
        </p:nvGrpSpPr>
        <p:grpSpPr>
          <a:xfrm>
            <a:off x="751522" y="5035391"/>
            <a:ext cx="1743980" cy="739140"/>
            <a:chOff x="751522" y="5035391"/>
            <a:chExt cx="1743980" cy="739140"/>
          </a:xfrm>
        </p:grpSpPr>
        <p:sp>
          <p:nvSpPr>
            <p:cNvPr id="136" name="TextBox 136"/>
            <p:cNvSpPr txBox="1"/>
            <p:nvPr/>
          </p:nvSpPr>
          <p:spPr>
            <a:xfrm>
              <a:off x="751522" y="5035391"/>
              <a:ext cx="13343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 </a:t>
              </a:r>
              <a:r>
                <a:rPr lang="zh-CN" sz="825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集装箱号</a:t>
              </a:r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或 </a:t>
              </a:r>
              <a:r>
                <a:rPr lang="zh-CN" sz="825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提单号</a:t>
              </a:r>
              <a:endParaRPr lang="zh-CN" sz="8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751522" y="522589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自动还原全链路物流状态：</a:t>
              </a:r>
              <a:endParaRPr lang="zh-CN" sz="8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51522" y="5416391"/>
              <a:ext cx="17439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出厂配柜 → 报关放行 → 海运发船</a:t>
              </a:r>
              <a:endPara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751522" y="5606891"/>
              <a:ext cx="16897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到港卸货，全程时间轴可视化</a:t>
              </a:r>
              <a:endPara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41" name="Rectangle 141"/>
          <p:cNvSpPr/>
          <p:nvPr/>
        </p:nvSpPr>
        <p:spPr>
          <a:xfrm>
            <a:off x="4333875" y="4524375"/>
            <a:ext cx="3524250" cy="1333500"/>
          </a:xfrm>
          <a:prstGeom prst="roundRect">
            <a:avLst>
              <a:gd name="adj" fmla="val 4286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142" name="Rectangle 142"/>
          <p:cNvSpPr/>
          <p:nvPr/>
        </p:nvSpPr>
        <p:spPr>
          <a:xfrm>
            <a:off x="4333875" y="4524375"/>
            <a:ext cx="3524250" cy="342900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143" name="Ellipse 143"/>
          <p:cNvSpPr/>
          <p:nvPr/>
        </p:nvSpPr>
        <p:spPr>
          <a:xfrm>
            <a:off x="4486275" y="4610100"/>
            <a:ext cx="171450" cy="171450"/>
          </a:xfrm>
          <a:prstGeom prst="ellipse">
            <a:avLst/>
          </a:prstGeom>
          <a:noFill/>
          <a:ln w="14288">
            <a:solidFill>
              <a:srgbClr val="2E7D32"/>
            </a:solidFill>
          </a:ln>
        </p:spPr>
      </p:sp>
      <p:sp>
        <p:nvSpPr>
          <p:cNvPr id="144" name="TextBox 144"/>
          <p:cNvSpPr txBox="1"/>
          <p:nvPr/>
        </p:nvSpPr>
        <p:spPr>
          <a:xfrm>
            <a:off x="4530846" y="4652962"/>
            <a:ext cx="823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7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5" name="TextBox 145"/>
          <p:cNvSpPr txBox="1"/>
          <p:nvPr/>
        </p:nvSpPr>
        <p:spPr>
          <a:xfrm>
            <a:off x="4768215" y="46301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交叉对量校验</a:t>
            </a:r>
            <a:endParaRPr lang="zh-CN" sz="10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50" name="Group 150"/>
          <p:cNvGrpSpPr/>
          <p:nvPr/>
        </p:nvGrpSpPr>
        <p:grpSpPr>
          <a:xfrm>
            <a:off x="4466272" y="5035391"/>
            <a:ext cx="1960864" cy="739140"/>
            <a:chOff x="4466272" y="5035391"/>
            <a:chExt cx="1960864" cy="739140"/>
          </a:xfrm>
        </p:grpSpPr>
        <p:sp>
          <p:nvSpPr>
            <p:cNvPr id="146" name="TextBox 146"/>
            <p:cNvSpPr txBox="1"/>
            <p:nvPr/>
          </p:nvSpPr>
          <p:spPr>
            <a:xfrm>
              <a:off x="4466272" y="5035391"/>
              <a:ext cx="16054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装箱清单 vs 提单</a:t>
              </a:r>
              <a:r>
                <a: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重量 0 差异</a:t>
              </a:r>
              <a:endParaRPr lang="zh-CN" sz="8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4466272" y="5225891"/>
              <a:ext cx="17921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商业发票 vs 保险单</a:t>
              </a:r>
              <a:r>
                <a: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CIF 110% 匹配</a:t>
              </a:r>
              <a:endParaRPr lang="zh-CN" sz="8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4466272" y="5416391"/>
              <a:ext cx="15511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件数逐行统计</a:t>
              </a:r>
              <a:r>
                <a: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62 件完全一致</a:t>
              </a:r>
              <a:endParaRPr lang="zh-CN" sz="8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4466272" y="5606891"/>
              <a:ext cx="1960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 Excel 合并单元格自动展开比对</a:t>
              </a:r>
              <a:endPara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51" name="Rectangle 151"/>
          <p:cNvSpPr/>
          <p:nvPr/>
        </p:nvSpPr>
        <p:spPr>
          <a:xfrm>
            <a:off x="8048625" y="4524375"/>
            <a:ext cx="3524250" cy="1333500"/>
          </a:xfrm>
          <a:prstGeom prst="roundRect">
            <a:avLst>
              <a:gd name="adj" fmla="val 4286"/>
            </a:avLst>
          </a:prstGeom>
          <a:noFill/>
          <a:ln w="9525">
            <a:solidFill>
              <a:srgbClr val="D0D8E0"/>
            </a:solidFill>
          </a:ln>
        </p:spPr>
      </p:sp>
      <p:sp>
        <p:nvSpPr>
          <p:cNvPr id="152" name="Rectangle 152"/>
          <p:cNvSpPr/>
          <p:nvPr/>
        </p:nvSpPr>
        <p:spPr>
          <a:xfrm>
            <a:off x="8048625" y="4524375"/>
            <a:ext cx="3524250" cy="342900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153" name="Ellipse 153"/>
          <p:cNvSpPr/>
          <p:nvPr/>
        </p:nvSpPr>
        <p:spPr>
          <a:xfrm>
            <a:off x="8201025" y="4610100"/>
            <a:ext cx="171450" cy="171450"/>
          </a:xfrm>
          <a:prstGeom prst="ellipse">
            <a:avLst/>
          </a:prstGeom>
          <a:noFill/>
          <a:ln w="14288">
            <a:solidFill>
              <a:srgbClr val="C62828"/>
            </a:solidFill>
          </a:ln>
        </p:spPr>
      </p:sp>
      <p:sp>
        <p:nvSpPr>
          <p:cNvPr id="154" name="TextBox 154"/>
          <p:cNvSpPr txBox="1"/>
          <p:nvPr/>
        </p:nvSpPr>
        <p:spPr>
          <a:xfrm>
            <a:off x="8245596" y="4652962"/>
            <a:ext cx="823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7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5" name="TextBox 155"/>
          <p:cNvSpPr txBox="1"/>
          <p:nvPr/>
        </p:nvSpPr>
        <p:spPr>
          <a:xfrm>
            <a:off x="8482965" y="46301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异常自动预警</a:t>
            </a:r>
            <a:endParaRPr lang="zh-CN" sz="10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60" name="Group 160"/>
          <p:cNvGrpSpPr/>
          <p:nvPr/>
        </p:nvGrpSpPr>
        <p:grpSpPr>
          <a:xfrm>
            <a:off x="8181022" y="5035391"/>
            <a:ext cx="2231969" cy="739140"/>
            <a:chOff x="8181022" y="5035391"/>
            <a:chExt cx="2231969" cy="739140"/>
          </a:xfrm>
        </p:grpSpPr>
        <p:sp>
          <p:nvSpPr>
            <p:cNvPr id="156" name="TextBox 156"/>
            <p:cNvSpPr txBox="1"/>
            <p:nvPr/>
          </p:nvSpPr>
          <p:spPr>
            <a:xfrm>
              <a:off x="8181022" y="5035391"/>
              <a:ext cx="22319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</a:t>
              </a:r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单证不一致：发货人/HS 编码/路线偏离</a:t>
              </a:r>
              <a:endParaRPr lang="zh-CN" sz="8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8181022" y="5225891"/>
              <a:ext cx="1930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</a:t>
              </a:r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金额逻辑异常：保险 ≠ 发票 × 110%</a:t>
              </a:r>
              <a:endParaRPr lang="zh-CN" sz="8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8181022" y="5416391"/>
              <a:ext cx="1930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</a:t>
              </a:r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时序异常：提单日期早于报关日期</a:t>
              </a:r>
              <a:endParaRPr lang="zh-CN" sz="8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8181022" y="5606891"/>
              <a:ext cx="1810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</a:t>
              </a:r>
              <a:r>
                <a:rPr lang="zh-CN" sz="825" dirty="0">
                  <a:solidFill>
                    <a:srgbClr val="55555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柜号缺失：装箱清单有、提单无</a:t>
              </a:r>
              <a:endParaRPr lang="zh-CN" sz="825" dirty="0">
                <a:solidFill>
                  <a:srgbClr val="55555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61" name="Rectangle 161"/>
          <p:cNvSpPr/>
          <p:nvPr/>
        </p:nvSpPr>
        <p:spPr>
          <a:xfrm>
            <a:off x="619125" y="6048375"/>
            <a:ext cx="10953750" cy="342900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162" name="TextBox 162"/>
          <p:cNvSpPr txBox="1"/>
          <p:nvPr/>
        </p:nvSpPr>
        <p:spPr>
          <a:xfrm>
            <a:off x="1826073" y="6171724"/>
            <a:ext cx="85398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三大查询入口：合同号（采购溯源）· 提单号/柜号（物流追踪）· 发票号（清关配对）— 7 类单据一键串联、自动对量、智能预警</a:t>
            </a:r>
            <a:endParaRPr lang="zh-CN" sz="9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3" name="TextBox 163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6572104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场景五：施工数字孪生 — 虚实映射巡检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33500"/>
            <a:ext cx="5143500" cy="3238500"/>
          </a:xfrm>
          <a:prstGeom prst="roundRect">
            <a:avLst>
              <a:gd name="adj" fmla="val 2941"/>
            </a:avLst>
          </a:prstGeom>
          <a:solidFill>
            <a:srgbClr val="F5F7F9"/>
          </a:solidFill>
          <a:ln w="9525">
            <a:solidFill>
              <a:srgbClr val="E8EAED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rcRect t="8025" b="8025"/>
          <a:stretch>
            <a:fillRect/>
          </a:stretch>
        </p:blipFill>
        <p:spPr>
          <a:xfrm>
            <a:off x="523875" y="1333500"/>
            <a:ext cx="5143500" cy="3238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953125" y="1333500"/>
            <a:ext cx="5715000" cy="3238500"/>
          </a:xfrm>
          <a:prstGeom prst="roundRect">
            <a:avLst>
              <a:gd name="adj" fmla="val 2941"/>
            </a:avLst>
          </a:prstGeom>
          <a:solidFill>
            <a:srgbClr val="F5F7F9"/>
          </a:solidFill>
          <a:ln w="9525">
            <a:solidFill>
              <a:srgbClr val="607D8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953125" y="1333500"/>
            <a:ext cx="5715000" cy="381000"/>
          </a:xfrm>
          <a:prstGeom prst="roundRect">
            <a:avLst>
              <a:gd name="adj" fmla="val 25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644486" y="1435418"/>
            <a:ext cx="2332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2.0 方案 — 虚实精准比对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6200775" y="1862614"/>
            <a:ext cx="4155281" cy="1402080"/>
            <a:chOff x="6200775" y="1862614"/>
            <a:chExt cx="4155281" cy="1402080"/>
          </a:xfrm>
        </p:grpSpPr>
        <p:sp>
          <p:nvSpPr>
            <p:cNvPr id="11" name="Ellipse 11"/>
            <p:cNvSpPr/>
            <p:nvPr/>
          </p:nvSpPr>
          <p:spPr>
            <a:xfrm>
              <a:off x="6200775" y="1914525"/>
              <a:ext cx="76200" cy="762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13182" y="186261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37474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预设路线巡检：基于模型精准设定巡检路线</a:t>
              </a:r>
              <a:endParaRPr lang="zh-CN" sz="1275" dirty="0">
                <a:solidFill>
                  <a:srgbClr val="37474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6200775" y="2295525"/>
              <a:ext cx="76200" cy="762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3182" y="2243614"/>
              <a:ext cx="39428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37474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虚实精准比对：自动匹配同一位点模型与全景图</a:t>
              </a:r>
              <a:endParaRPr lang="zh-CN" sz="1275" dirty="0">
                <a:solidFill>
                  <a:srgbClr val="37474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6200775" y="2676525"/>
              <a:ext cx="76200" cy="762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3182" y="2624614"/>
              <a:ext cx="36635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37474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图像AI自动识险：算法扫描360画面标记隐患</a:t>
              </a:r>
              <a:endParaRPr lang="zh-CN" sz="1275" dirty="0">
                <a:solidFill>
                  <a:srgbClr val="37474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6200775" y="3057525"/>
              <a:ext cx="76200" cy="7620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3182" y="3005614"/>
              <a:ext cx="33469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37474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360全景安全帽实采 + 空间同步渲染比对</a:t>
              </a:r>
              <a:endParaRPr lang="zh-CN" sz="1275" dirty="0">
                <a:solidFill>
                  <a:srgbClr val="37474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0" name="Rectangle 20"/>
          <p:cNvSpPr/>
          <p:nvPr/>
        </p:nvSpPr>
        <p:spPr>
          <a:xfrm>
            <a:off x="6191250" y="3476625"/>
            <a:ext cx="2476500" cy="304800"/>
          </a:xfrm>
          <a:prstGeom prst="roundRect">
            <a:avLst>
              <a:gd name="adj" fmla="val 1875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19838" y="355520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漏检率大幅降低</a:t>
            </a:r>
            <a:endParaRPr lang="zh-CN" sz="1125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796212" y="355520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数字化证据留存</a:t>
            </a:r>
            <a:endParaRPr lang="zh-CN" sz="1125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8810625" y="3476625"/>
            <a:ext cx="2667000" cy="304800"/>
          </a:xfrm>
          <a:prstGeom prst="roundRect">
            <a:avLst>
              <a:gd name="adj" fmla="val 1875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939212" y="3555206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模型不再束之高阁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463212" y="35552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在线溯源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523875" y="4810125"/>
            <a:ext cx="11144250" cy="428625"/>
          </a:xfrm>
          <a:prstGeom prst="roundRect">
            <a:avLst>
              <a:gd name="adj" fmla="val 17778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771617" y="4940618"/>
            <a:ext cx="66487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技术路径：模型预设路径 → 360全景安全帽实采影像 → 空间同步渲染比对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523875" y="5429250"/>
            <a:ext cx="11144250" cy="342900"/>
          </a:xfrm>
          <a:prstGeom prst="roundRect">
            <a:avLst>
              <a:gd name="adj" fmla="val 22222"/>
            </a:avLst>
          </a:prstGeom>
          <a:solidFill>
            <a:srgbClr val="F0F5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4855" y="55121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核心能力</a:t>
            </a:r>
            <a:endParaRPr lang="zh-CN" sz="1350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714375" y="5886450"/>
            <a:ext cx="10763250" cy="347662"/>
            <a:chOff x="714375" y="5886450"/>
            <a:chExt cx="10763250" cy="347662"/>
          </a:xfrm>
        </p:grpSpPr>
        <p:sp>
          <p:nvSpPr>
            <p:cNvPr id="30" name="Rectangle 30"/>
            <p:cNvSpPr/>
            <p:nvPr/>
          </p:nvSpPr>
          <p:spPr>
            <a:xfrm>
              <a:off x="714375" y="5886450"/>
              <a:ext cx="2476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82731" y="5959792"/>
              <a:ext cx="17397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360全景安全帽采集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33750" y="5886450"/>
              <a:ext cx="2476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05618" y="5959792"/>
              <a:ext cx="1532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BIM模型路径预设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53125" y="5886450"/>
              <a:ext cx="2476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6976" y="5959792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虚实同位点自动匹配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572500" y="5886450"/>
              <a:ext cx="2905125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0E4E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18734" y="5959792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AI图像识险 + 数字化存证</a:t>
              </a:r>
              <a:endParaRPr lang="zh-CN" sz="1350" dirty="0">
                <a:solidFill>
                  <a:srgbClr val="44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19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5699144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数字孪生案例：全数据AI协同平台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23875" y="1381125"/>
            <a:ext cx="11144250" cy="5238750"/>
          </a:xfrm>
          <a:prstGeom prst="roundRect">
            <a:avLst>
              <a:gd name="adj" fmla="val 2182"/>
            </a:avLst>
          </a:prstGeom>
          <a:solidFill>
            <a:srgbClr val="FAFAFA"/>
          </a:solidFill>
          <a:ln w="9525">
            <a:solidFill>
              <a:srgbClr val="E8EAED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08" y="1524000"/>
            <a:ext cx="10175185" cy="4953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68" y="685324"/>
            <a:ext cx="4996982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AI能力规划 — 六类核心智能体</a:t>
            </a:r>
            <a:endParaRPr lang="zh-CN" sz="24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44855" y="1283018"/>
            <a:ext cx="5752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以六类核心智能体支撑数据采集、业务分析、风险预警与知识沉淀</a:t>
            </a:r>
            <a:endParaRPr lang="zh-CN" sz="13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23875" y="1695450"/>
            <a:ext cx="3552825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42950" y="190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876300" y="1981200"/>
            <a:ext cx="152400" cy="228600"/>
            <a:chOff x="876300" y="1981200"/>
            <a:chExt cx="152400" cy="228600"/>
          </a:xfrm>
        </p:grpSpPr>
        <p:sp>
          <p:nvSpPr>
            <p:cNvPr id="9" name="Rectangle 9"/>
            <p:cNvSpPr/>
            <p:nvPr/>
          </p:nvSpPr>
          <p:spPr>
            <a:xfrm>
              <a:off x="876300" y="2076450"/>
              <a:ext cx="152400" cy="133350"/>
            </a:xfrm>
            <a:prstGeom prst="roundRect">
              <a:avLst>
                <a:gd name="adj" fmla="val 21429"/>
              </a:avLst>
            </a:pr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10" name="Ellipse 10"/>
            <p:cNvSpPr/>
            <p:nvPr/>
          </p:nvSpPr>
          <p:spPr>
            <a:xfrm>
              <a:off x="909638" y="2128838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66788" y="2128838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952500" y="200977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13" name="Ellipse 13"/>
            <p:cNvSpPr/>
            <p:nvPr/>
          </p:nvSpPr>
          <p:spPr>
            <a:xfrm>
              <a:off x="933450" y="1981200"/>
              <a:ext cx="38100" cy="38100"/>
            </a:xfrm>
            <a:prstGeom prst="ellipse">
              <a:avLst/>
            </a:prstGeom>
            <a:noFill/>
            <a:ln w="15240" cap="rnd">
              <a:solidFill>
                <a:srgbClr val="FFFFFF"/>
              </a:solidFill>
              <a:round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316355" y="20450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现场数字员工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5805" y="24260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辅助现场文秘完成资料沉淀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5805" y="2664142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实现文档的自动识别、属性分类与一键入库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4314825" y="1695450"/>
            <a:ext cx="3552825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533900" y="190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607D8B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4648200" y="2009775"/>
            <a:ext cx="190500" cy="209550"/>
            <a:chOff x="4648200" y="2009775"/>
            <a:chExt cx="190500" cy="209550"/>
          </a:xfrm>
        </p:grpSpPr>
        <p:sp>
          <p:nvSpPr>
            <p:cNvPr id="20" name="Rectangle 20"/>
            <p:cNvSpPr/>
            <p:nvPr/>
          </p:nvSpPr>
          <p:spPr>
            <a:xfrm>
              <a:off x="4648200" y="2066925"/>
              <a:ext cx="190500" cy="152400"/>
            </a:xfrm>
            <a:prstGeom prst="roundRect">
              <a:avLst>
                <a:gd name="adj" fmla="val 12500"/>
              </a:avLst>
            </a:pr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21" name="Polyline 21"/>
            <p:cNvSpPr/>
            <p:nvPr/>
          </p:nvSpPr>
          <p:spPr>
            <a:xfrm>
              <a:off x="4648200" y="2009775"/>
              <a:ext cx="190500" cy="57150"/>
            </a:xfrm>
            <a:custGeom>
              <a:avLst/>
              <a:gdLst/>
              <a:ahLst/>
              <a:cxnLst/>
              <a:rect l="l" t="t" r="r" b="b"/>
              <a:pathLst>
                <a:path w="190500" h="57150">
                  <a:moveTo>
                    <a:pt x="0" y="57150"/>
                  </a:moveTo>
                  <a:lnTo>
                    <a:pt x="95250" y="0"/>
                  </a:lnTo>
                  <a:lnTo>
                    <a:pt x="190500" y="5715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22" name="Line 22"/>
            <p:cNvSpPr/>
            <p:nvPr/>
          </p:nvSpPr>
          <p:spPr>
            <a:xfrm>
              <a:off x="4743450" y="20097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107305" y="20450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采购物流智能体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16755" y="2426018"/>
            <a:ext cx="19763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基于OCR技术识别单据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16755" y="2664142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实现海外全链路物流状态跟踪与采购物料精准比对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8115300" y="1695450"/>
            <a:ext cx="3552825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334375" y="190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8448675" y="2095500"/>
            <a:ext cx="190500" cy="123825"/>
            <a:chOff x="8448675" y="2095500"/>
            <a:chExt cx="190500" cy="123825"/>
          </a:xfrm>
        </p:grpSpPr>
        <p:sp>
          <p:nvSpPr>
            <p:cNvPr id="29" name="Line 29"/>
            <p:cNvSpPr/>
            <p:nvPr/>
          </p:nvSpPr>
          <p:spPr>
            <a:xfrm>
              <a:off x="8448675" y="22098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467725" y="2143125"/>
              <a:ext cx="28575" cy="66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15350" y="2095500"/>
              <a:ext cx="28575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562975" y="2162175"/>
              <a:ext cx="28575" cy="4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8907780" y="20450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进度管理智能体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317230" y="242601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对多源进度材料进行交叉校验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317230" y="2664142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自动识别工期矛盾、里程碑偏差与产值异常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523875" y="3562350"/>
            <a:ext cx="3552825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42950" y="3771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607D8B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857250" y="3876675"/>
            <a:ext cx="190500" cy="238125"/>
            <a:chOff x="857250" y="3876675"/>
            <a:chExt cx="190500" cy="238125"/>
          </a:xfrm>
        </p:grpSpPr>
        <p:sp>
          <p:nvSpPr>
            <p:cNvPr id="39" name="Freeform 39"/>
            <p:cNvSpPr/>
            <p:nvPr/>
          </p:nvSpPr>
          <p:spPr>
            <a:xfrm>
              <a:off x="857250" y="3876675"/>
              <a:ext cx="190500" cy="238125"/>
            </a:xfrm>
            <a:custGeom>
              <a:avLst/>
              <a:gdLst/>
              <a:ahLst/>
              <a:cxnLst/>
              <a:rect l="l" t="t" r="r" b="b"/>
              <a:pathLst>
                <a:path w="190500" h="238125">
                  <a:moveTo>
                    <a:pt x="95250" y="0"/>
                  </a:moveTo>
                  <a:lnTo>
                    <a:pt x="0" y="66675"/>
                  </a:lnTo>
                  <a:lnTo>
                    <a:pt x="0" y="180975"/>
                  </a:lnTo>
                  <a:cubicBezTo>
                    <a:pt x="0" y="209550"/>
                    <a:pt x="95250" y="238125"/>
                    <a:pt x="95250" y="238125"/>
                  </a:cubicBezTo>
                  <a:cubicBezTo>
                    <a:pt x="95250" y="238125"/>
                    <a:pt x="190500" y="209550"/>
                    <a:pt x="190500" y="180975"/>
                  </a:cubicBezTo>
                  <a:lnTo>
                    <a:pt x="190500" y="66675"/>
                  </a:lnTo>
                  <a:close/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40" name="Polyline 40"/>
            <p:cNvSpPr/>
            <p:nvPr/>
          </p:nvSpPr>
          <p:spPr>
            <a:xfrm>
              <a:off x="914400" y="3952875"/>
              <a:ext cx="85725" cy="57150"/>
            </a:xfrm>
            <a:custGeom>
              <a:avLst/>
              <a:gdLst/>
              <a:ahLst/>
              <a:cxnLst/>
              <a:rect l="l" t="t" r="r" b="b"/>
              <a:pathLst>
                <a:path w="85725" h="57150">
                  <a:moveTo>
                    <a:pt x="0" y="28575"/>
                  </a:moveTo>
                  <a:lnTo>
                    <a:pt x="19050" y="57150"/>
                  </a:lnTo>
                  <a:lnTo>
                    <a:pt x="85725" y="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1316355" y="3911918"/>
            <a:ext cx="1597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质量/安全智能体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25805" y="42929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智能识别现场影像中的风险隐患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725805" y="4531042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辅助实现隐患排查、整改派工与线上闭环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4314825" y="3562350"/>
            <a:ext cx="3552825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4533900" y="3771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4657725" y="3886200"/>
            <a:ext cx="171450" cy="190500"/>
            <a:chOff x="4657725" y="3886200"/>
            <a:chExt cx="171450" cy="190500"/>
          </a:xfrm>
        </p:grpSpPr>
        <p:sp>
          <p:nvSpPr>
            <p:cNvPr id="47" name="Freeform 47"/>
            <p:cNvSpPr/>
            <p:nvPr/>
          </p:nvSpPr>
          <p:spPr>
            <a:xfrm>
              <a:off x="4657725" y="38862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85725" y="0"/>
                  </a:moveTo>
                  <a:lnTo>
                    <a:pt x="0" y="38100"/>
                  </a:lnTo>
                  <a:lnTo>
                    <a:pt x="0" y="171450"/>
                  </a:lnTo>
                  <a:lnTo>
                    <a:pt x="85725" y="190500"/>
                  </a:lnTo>
                  <a:lnTo>
                    <a:pt x="171450" y="171450"/>
                  </a:lnTo>
                  <a:lnTo>
                    <a:pt x="171450" y="38100"/>
                  </a:lnTo>
                  <a:close/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48" name="Line 48"/>
            <p:cNvSpPr/>
            <p:nvPr/>
          </p:nvSpPr>
          <p:spPr>
            <a:xfrm>
              <a:off x="4743450" y="3886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49" name="Line 49"/>
            <p:cNvSpPr/>
            <p:nvPr/>
          </p:nvSpPr>
          <p:spPr>
            <a:xfrm>
              <a:off x="4686300" y="3971925"/>
              <a:ext cx="57150" cy="19050"/>
            </a:xfrm>
            <a:custGeom>
              <a:avLst/>
              <a:gdLst/>
              <a:ahLst/>
              <a:cxnLst/>
              <a:rect l="l" t="t" r="r" b="b"/>
              <a:pathLst>
                <a:path w="57150" h="19050">
                  <a:moveTo>
                    <a:pt x="0" y="0"/>
                  </a:moveTo>
                  <a:lnTo>
                    <a:pt x="57150" y="1905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50" name="Line 50"/>
            <p:cNvSpPr/>
            <p:nvPr/>
          </p:nvSpPr>
          <p:spPr>
            <a:xfrm>
              <a:off x="4743450" y="3971925"/>
              <a:ext cx="57150" cy="19050"/>
            </a:xfrm>
            <a:custGeom>
              <a:avLst/>
              <a:gdLst/>
              <a:ahLst/>
              <a:cxnLst/>
              <a:rect l="l" t="t" r="r" b="b"/>
              <a:pathLst>
                <a:path w="57150" h="19050">
                  <a:moveTo>
                    <a:pt x="0" y="19050"/>
                  </a:moveTo>
                  <a:lnTo>
                    <a:pt x="57150" y="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5107305" y="3911918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 知识库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4516755" y="429291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沉淀项目、子公司及股份公司三级知识资产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4516755" y="4531042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支持跨地域、跨项目的智能检索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8115300" y="3562350"/>
            <a:ext cx="3552825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8334375" y="3771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607D8B"/>
          </a:solidFill>
          <a:ln>
            <a:noFill/>
          </a:ln>
        </p:spPr>
      </p:sp>
      <p:grpSp>
        <p:nvGrpSpPr>
          <p:cNvPr id="64" name="Group 64"/>
          <p:cNvGrpSpPr/>
          <p:nvPr/>
        </p:nvGrpSpPr>
        <p:grpSpPr>
          <a:xfrm>
            <a:off x="8448675" y="3886200"/>
            <a:ext cx="190500" cy="190500"/>
            <a:chOff x="8448675" y="3886200"/>
            <a:chExt cx="190500" cy="190500"/>
          </a:xfrm>
        </p:grpSpPr>
        <p:sp>
          <p:nvSpPr>
            <p:cNvPr id="57" name="Ellipse 57"/>
            <p:cNvSpPr/>
            <p:nvPr/>
          </p:nvSpPr>
          <p:spPr>
            <a:xfrm>
              <a:off x="8448675" y="3886200"/>
              <a:ext cx="190500" cy="190500"/>
            </a:xfrm>
            <a:prstGeom prst="ellipse">
              <a:avLst/>
            </a:pr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58" name="Ellipse 58"/>
            <p:cNvSpPr/>
            <p:nvPr/>
          </p:nvSpPr>
          <p:spPr>
            <a:xfrm>
              <a:off x="8496300" y="3933825"/>
              <a:ext cx="95250" cy="95250"/>
            </a:xfrm>
            <a:prstGeom prst="ellipse">
              <a:avLst/>
            </a:pr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59" name="Ellipse 59"/>
            <p:cNvSpPr/>
            <p:nvPr/>
          </p:nvSpPr>
          <p:spPr>
            <a:xfrm>
              <a:off x="8529638" y="3967162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Line 60"/>
            <p:cNvSpPr/>
            <p:nvPr/>
          </p:nvSpPr>
          <p:spPr>
            <a:xfrm>
              <a:off x="8543925" y="388620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61" name="Line 61"/>
            <p:cNvSpPr/>
            <p:nvPr/>
          </p:nvSpPr>
          <p:spPr>
            <a:xfrm>
              <a:off x="8543925" y="4048125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62" name="Line 62"/>
            <p:cNvSpPr/>
            <p:nvPr/>
          </p:nvSpPr>
          <p:spPr>
            <a:xfrm>
              <a:off x="8448675" y="3981450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  <p:sp>
          <p:nvSpPr>
            <p:cNvPr id="63" name="Line 63"/>
            <p:cNvSpPr/>
            <p:nvPr/>
          </p:nvSpPr>
          <p:spPr>
            <a:xfrm>
              <a:off x="8610600" y="3981450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  <a:round/>
            </a:ln>
          </p:spPr>
        </p:sp>
      </p:grpSp>
      <p:sp>
        <p:nvSpPr>
          <p:cNvPr id="65" name="TextBox 65"/>
          <p:cNvSpPr txBox="1"/>
          <p:nvPr/>
        </p:nvSpPr>
        <p:spPr>
          <a:xfrm>
            <a:off x="8907780" y="39119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其他智能场景</a:t>
            </a:r>
            <a:endParaRPr lang="zh-CN" sz="13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8317230" y="429291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统筹进度、资金、采购、质量等多维数据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8317230" y="4531042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定期输出项目健康画像与管理建议</a:t>
            </a:r>
            <a:endParaRPr lang="zh-CN" sz="1350" dirty="0">
              <a:solidFill>
                <a:srgbClr val="59595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21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56" b="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"/>
            <a:ext cx="2095500" cy="285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12470" y="129349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实施路径</a:t>
            </a:r>
            <a:endParaRPr lang="zh-CN" sz="3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905000"/>
            <a:ext cx="571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121"/>
              </a:gs>
              <a:gs pos="100000">
                <a:srgbClr val="E94057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76325" y="2505075"/>
            <a:ext cx="51425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>
                    <a:alphaMod val="9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调研设计 → 试点攻坚 → 功能推广，三阶段渐进式交付</a:t>
            </a:r>
            <a:endParaRPr lang="zh-CN" sz="1500" dirty="0">
              <a:solidFill>
                <a:srgbClr val="FFFFFF">
                  <a:alphaMod val="9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78230" y="3188018"/>
            <a:ext cx="63140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>
                    <a:alphaMod val="7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以移动端深入工地一线为核心，逐步覆盖数字孪生、AI智能体等高阶能力</a:t>
            </a:r>
            <a:endParaRPr lang="zh-CN" sz="1350" dirty="0">
              <a:solidFill>
                <a:srgbClr val="FFFFFF">
                  <a:alphaMod val="7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78230" y="3854768"/>
            <a:ext cx="64028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>
                    <a:alphaMod val="7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总部统筹 + 项目试点 + 持续迭代，确保每阶段交付可独立使用的功能模块</a:t>
            </a:r>
            <a:endParaRPr lang="zh-CN" sz="1350" dirty="0">
              <a:solidFill>
                <a:srgbClr val="FFFFFF">
                  <a:alphaMod val="7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899255" y="2266950"/>
            <a:ext cx="1746790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Mod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9000" b="1" dirty="0">
              <a:solidFill>
                <a:srgbClr val="FFFFFF">
                  <a:alphaMod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27710" y="661035"/>
            <a:ext cx="30497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2026实施路线图</a:t>
            </a:r>
            <a:endParaRPr lang="zh-CN" sz="27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t="39766" b="39766"/>
          <a:stretch>
            <a:fillRect/>
          </a:stretch>
        </p:blipFill>
        <p:spPr>
          <a:xfrm>
            <a:off x="0" y="1095375"/>
            <a:ext cx="10725150" cy="57150"/>
          </a:xfrm>
          <a:prstGeom prst="rect">
            <a:avLst/>
          </a:prstGeom>
        </p:spPr>
      </p:pic>
      <p:sp>
        <p:nvSpPr>
          <p:cNvPr id="6" name="Line 6"/>
          <p:cNvSpPr/>
          <p:nvPr/>
        </p:nvSpPr>
        <p:spPr>
          <a:xfrm>
            <a:off x="762000" y="1905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>
            <a:solidFill>
              <a:srgbClr val="1A3A7A"/>
            </a:solidFill>
          </a:ln>
        </p:spPr>
      </p:sp>
      <p:sp>
        <p:nvSpPr>
          <p:cNvPr id="7" name="Polygon 7"/>
          <p:cNvSpPr/>
          <p:nvPr/>
        </p:nvSpPr>
        <p:spPr>
          <a:xfrm>
            <a:off x="11430000" y="1847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A3A7A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876425" y="1752600"/>
            <a:ext cx="304800" cy="304800"/>
          </a:xfrm>
          <a:prstGeom prst="ellipse">
            <a:avLst/>
          </a:prstGeom>
          <a:solidFill>
            <a:srgbClr val="1A3A7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83304" y="1834039"/>
            <a:ext cx="910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82172" y="1493044"/>
            <a:ext cx="49330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5月</a:t>
            </a:r>
            <a:endParaRPr lang="zh-CN" sz="187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7851" y="2052161"/>
            <a:ext cx="110194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调研设计</a:t>
            </a:r>
            <a:endParaRPr lang="zh-CN" sz="172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934402" y="2513171"/>
            <a:ext cx="1909286" cy="899160"/>
            <a:chOff x="934402" y="2513171"/>
            <a:chExt cx="1909286" cy="899160"/>
          </a:xfrm>
        </p:grpSpPr>
        <p:sp>
          <p:nvSpPr>
            <p:cNvPr id="12" name="TextBox 12"/>
            <p:cNvSpPr txBox="1"/>
            <p:nvPr/>
          </p:nvSpPr>
          <p:spPr>
            <a:xfrm>
              <a:off x="934402" y="2513171"/>
              <a:ext cx="19092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全业务条线需求摸底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4402" y="2817971"/>
              <a:ext cx="16907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2.0 建设方案锁定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4402" y="3122771"/>
              <a:ext cx="128492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方案评审通过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6" name="Ellipse 16"/>
          <p:cNvSpPr/>
          <p:nvPr/>
        </p:nvSpPr>
        <p:spPr>
          <a:xfrm>
            <a:off x="4610100" y="1752600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92538" y="1834039"/>
            <a:ext cx="1399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57702" y="1493044"/>
            <a:ext cx="80959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6-8月</a:t>
            </a:r>
            <a:endParaRPr lang="zh-CN" sz="187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211526" y="2052161"/>
            <a:ext cx="110194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试点攻坚</a:t>
            </a:r>
            <a:endParaRPr lang="zh-CN" sz="172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3601402" y="2513171"/>
            <a:ext cx="2117408" cy="899160"/>
            <a:chOff x="3601402" y="2513171"/>
            <a:chExt cx="2117408" cy="899160"/>
          </a:xfrm>
        </p:grpSpPr>
        <p:sp>
          <p:nvSpPr>
            <p:cNvPr id="20" name="TextBox 20"/>
            <p:cNvSpPr txBox="1"/>
            <p:nvPr/>
          </p:nvSpPr>
          <p:spPr>
            <a:xfrm>
              <a:off x="3601402" y="2513171"/>
              <a:ext cx="19092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移动端现场采集上线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01402" y="2817971"/>
              <a:ext cx="211740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数字员工文件分类模块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01402" y="3122771"/>
              <a:ext cx="17011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示范工地试点启动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Ellipse 24"/>
          <p:cNvSpPr/>
          <p:nvPr/>
        </p:nvSpPr>
        <p:spPr>
          <a:xfrm>
            <a:off x="7343775" y="1752600"/>
            <a:ext cx="304800" cy="30480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26213" y="1834039"/>
            <a:ext cx="1399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2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084189" y="1493044"/>
            <a:ext cx="82397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9-11月</a:t>
            </a:r>
            <a:endParaRPr lang="zh-CN" sz="187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945201" y="2052161"/>
            <a:ext cx="110194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功能推广</a:t>
            </a:r>
            <a:endParaRPr lang="zh-CN" sz="172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6363652" y="2513171"/>
            <a:ext cx="2117408" cy="899160"/>
            <a:chOff x="6363652" y="2513171"/>
            <a:chExt cx="2117408" cy="899160"/>
          </a:xfrm>
        </p:grpSpPr>
        <p:sp>
          <p:nvSpPr>
            <p:cNvPr id="28" name="TextBox 28"/>
            <p:cNvSpPr txBox="1"/>
            <p:nvPr/>
          </p:nvSpPr>
          <p:spPr>
            <a:xfrm>
              <a:off x="6363652" y="2513171"/>
              <a:ext cx="17011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多源进度比对分析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3652" y="2817971"/>
              <a:ext cx="17011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海外物流追踪功能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3652" y="3122771"/>
              <a:ext cx="211740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全面切入实际项目应用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2" name="Ellipse 32"/>
          <p:cNvSpPr/>
          <p:nvPr/>
        </p:nvSpPr>
        <p:spPr>
          <a:xfrm>
            <a:off x="10001250" y="1752600"/>
            <a:ext cx="304800" cy="3048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083688" y="1834039"/>
            <a:ext cx="1399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2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842302" y="1493044"/>
            <a:ext cx="62269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后续</a:t>
            </a:r>
            <a:endParaRPr lang="zh-CN" sz="1875" b="1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602676" y="2052161"/>
            <a:ext cx="110194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持续迭代</a:t>
            </a:r>
            <a:endParaRPr lang="zh-CN" sz="172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9" name="Group 39"/>
          <p:cNvGrpSpPr/>
          <p:nvPr/>
        </p:nvGrpSpPr>
        <p:grpSpPr>
          <a:xfrm>
            <a:off x="9125902" y="2513171"/>
            <a:ext cx="1909286" cy="899160"/>
            <a:chOff x="9125902" y="2513171"/>
            <a:chExt cx="1909286" cy="899160"/>
          </a:xfrm>
        </p:grpSpPr>
        <p:sp>
          <p:nvSpPr>
            <p:cNvPr id="36" name="TextBox 36"/>
            <p:cNvSpPr txBox="1"/>
            <p:nvPr/>
          </p:nvSpPr>
          <p:spPr>
            <a:xfrm>
              <a:off x="9125902" y="2513171"/>
              <a:ext cx="17011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施工全景数字孪生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25902" y="2817971"/>
              <a:ext cx="17011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高阶分析能力迭代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25902" y="3122771"/>
              <a:ext cx="19092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系统智能化持续升级</a:t>
              </a:r>
              <a:endParaRPr lang="zh-CN" sz="14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0" name="Rectangle 40"/>
          <p:cNvSpPr/>
          <p:nvPr/>
        </p:nvSpPr>
        <p:spPr>
          <a:xfrm>
            <a:off x="762000" y="3810000"/>
            <a:ext cx="2762250" cy="76200"/>
          </a:xfrm>
          <a:prstGeom prst="roundRect">
            <a:avLst>
              <a:gd name="adj" fmla="val 50000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524250" y="3810000"/>
            <a:ext cx="2762250" cy="762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286500" y="3810000"/>
            <a:ext cx="2762250" cy="7620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9048750" y="381000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762000" y="4143375"/>
            <a:ext cx="10668000" cy="1095375"/>
          </a:xfrm>
          <a:prstGeom prst="roundRect">
            <a:avLst>
              <a:gd name="adj" fmla="val 8696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214360" y="4338161"/>
            <a:ext cx="176328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 年度目标</a:t>
            </a:r>
            <a:endParaRPr lang="zh-CN" sz="17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2395538" y="4687729"/>
            <a:ext cx="740092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dirty="0">
                <a:solidFill>
                  <a:srgbClr val="FFFFFF">
                    <a:alphaMod val="9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移动端深入工地一线，为项目提供效率工具，为公司完成真实的数据采集</a:t>
            </a:r>
            <a:endParaRPr lang="zh-CN" sz="1575" dirty="0">
              <a:solidFill>
                <a:srgbClr val="FFFFFF">
                  <a:alphaMod val="9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2584061" y="4978718"/>
            <a:ext cx="70238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6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蓝图先行 → 试点攻坚 → 功能推广 → 持续迭代，每阶段交付可独立使用的功能模块</a:t>
            </a:r>
            <a:endParaRPr lang="zh-CN" sz="1350" dirty="0">
              <a:solidFill>
                <a:srgbClr val="FFFFFF">
                  <a:alphaMod val="6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23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"/>
            <a:ext cx="2095500" cy="285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56696" y="2853690"/>
            <a:ext cx="25826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B0C4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开启智慧工地2.0时代</a:t>
            </a:r>
            <a:endParaRPr lang="zh-CN" sz="1800" dirty="0">
              <a:solidFill>
                <a:srgbClr val="B0C4D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66235" y="3358515"/>
            <a:ext cx="256353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感 谢 聆 听</a:t>
            </a:r>
            <a:endParaRPr lang="zh-CN" sz="33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9605" y="4140518"/>
            <a:ext cx="40367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数据驱动现场 · 智能辅助决策 · 渐进交付价值</a:t>
            </a:r>
            <a:endParaRPr lang="zh-CN" sz="1350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506106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附录A · 13个模块详细设计文档索引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23875" y="14287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478113" y="1554956"/>
            <a:ext cx="16157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EPC业务主线（6个）</a:t>
            </a:r>
            <a:endParaRPr lang="zh-CN" sz="1125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796290" y="1982152"/>
            <a:ext cx="2986373" cy="1642110"/>
            <a:chOff x="796290" y="1982152"/>
            <a:chExt cx="2986373" cy="1642110"/>
          </a:xfrm>
        </p:grpSpPr>
        <p:sp>
          <p:nvSpPr>
            <p:cNvPr id="8" name="TextBox 8"/>
            <p:cNvSpPr txBox="1"/>
            <p:nvPr/>
          </p:nvSpPr>
          <p:spPr>
            <a:xfrm>
              <a:off x="796290" y="1982152"/>
              <a:ext cx="25416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01-设计.md — 对接层，等云工场就绪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6290" y="2267902"/>
              <a:ext cx="2971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02-采购与供应链.md — 海外物流+到货确认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6290" y="2553652"/>
              <a:ext cx="29863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03-施工.md — 核心：进度+质量+资源+技术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6290" y="2839402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04-调试开车.md — 框架预留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6290" y="312515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05-验收.md — 框架预留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290" y="3410902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06-竣工交付.md — 框架预留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5" name="Rectangle 15"/>
          <p:cNvSpPr/>
          <p:nvPr/>
        </p:nvSpPr>
        <p:spPr>
          <a:xfrm>
            <a:off x="4333875" y="14287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344183" y="1554956"/>
            <a:ext cx="15036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横向护航层（4个）</a:t>
            </a:r>
            <a:endParaRPr lang="zh-CN" sz="112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4606290" y="1982152"/>
            <a:ext cx="2625995" cy="1070610"/>
            <a:chOff x="4606290" y="1982152"/>
            <a:chExt cx="2625995" cy="1070610"/>
          </a:xfrm>
        </p:grpSpPr>
        <p:sp>
          <p:nvSpPr>
            <p:cNvPr id="17" name="TextBox 17"/>
            <p:cNvSpPr txBox="1"/>
            <p:nvPr/>
          </p:nvSpPr>
          <p:spPr>
            <a:xfrm>
              <a:off x="4606290" y="1982152"/>
              <a:ext cx="2510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07-合同管理.md — 场景化预警·台账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6290" y="226790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08-费控.md — 资金一览表·签证·发票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6290" y="2553652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09-HSE管理.md — 数据接入+入口跳转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6290" y="2839402"/>
              <a:ext cx="2625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10-人员管理.md — 绩效系统·劳务实名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2" name="Rectangle 22"/>
          <p:cNvSpPr/>
          <p:nvPr/>
        </p:nvSpPr>
        <p:spPr>
          <a:xfrm>
            <a:off x="8143875" y="14287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240444" y="1554956"/>
            <a:ext cx="13311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知识底座（3个）</a:t>
            </a:r>
            <a:endParaRPr lang="zh-CN" sz="1125" b="1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8416290" y="1982152"/>
            <a:ext cx="2710339" cy="784860"/>
            <a:chOff x="8416290" y="1982152"/>
            <a:chExt cx="2710339" cy="784860"/>
          </a:xfrm>
        </p:grpSpPr>
        <p:sp>
          <p:nvSpPr>
            <p:cNvPr id="24" name="TextBox 24"/>
            <p:cNvSpPr txBox="1"/>
            <p:nvPr/>
          </p:nvSpPr>
          <p:spPr>
            <a:xfrm>
              <a:off x="8416290" y="1982152"/>
              <a:ext cx="2533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11-项目文档.md — Clawbot归档+OCR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16290" y="2267902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12-综合管理.md — 项目后勤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16290" y="2553652"/>
              <a:ext cx="27103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13-管理知识库.md — 查询+错题库+投标</a:t>
              </a:r>
              <a:endParaRPr lang="zh-CN" sz="1050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25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82121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附录B · 外部系统对接关系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762000" y="1524000"/>
            <a:ext cx="10668000" cy="3571875"/>
            <a:chOff x="762000" y="1524000"/>
            <a:chExt cx="10668000" cy="3571875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10668000" cy="476250"/>
            </a:xfrm>
            <a:prstGeom prst="roundRect">
              <a:avLst>
                <a:gd name="adj" fmla="val 16000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3462" y="16978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普华</a:t>
              </a:r>
              <a:endPara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90712" y="1697831"/>
              <a:ext cx="3347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API只读 — 成本/合同/支付/进度数据整合展示</a:t>
              </a:r>
              <a:endParaRPr lang="zh-CN" sz="1125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53212" y="1697831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数据流向：普华→智慧工地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143125"/>
              <a:ext cx="10668000" cy="476250"/>
            </a:xfrm>
            <a:prstGeom prst="roundRect">
              <a:avLst>
                <a:gd name="adj" fmla="val 16000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3462" y="23169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泛微</a:t>
              </a:r>
              <a:endPara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0712" y="2316956"/>
              <a:ext cx="2838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API只读 — 收款确认/开票数据整合展示</a:t>
              </a:r>
              <a:endParaRPr lang="zh-CN" sz="1125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53212" y="23169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数据流向：泛微→智慧工地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762250"/>
              <a:ext cx="10668000" cy="476250"/>
            </a:xfrm>
            <a:prstGeom prst="roundRect">
              <a:avLst>
                <a:gd name="adj" fmla="val 16000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3462" y="2936081"/>
              <a:ext cx="1003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07D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HSE安全平台</a:t>
              </a:r>
              <a:endParaRPr lang="zh-CN" sz="112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0712" y="2936081"/>
              <a:ext cx="36104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数据接入+入口跳转 — 安全/劳务数据→驾驶舱展示</a:t>
              </a:r>
              <a:endParaRPr lang="zh-CN" sz="1125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3212" y="2936081"/>
              <a:ext cx="23617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双向：接入数据+跳转至HSE平台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381375"/>
              <a:ext cx="10668000" cy="476250"/>
            </a:xfrm>
            <a:prstGeom prst="roundRect">
              <a:avLst>
                <a:gd name="adj" fmla="val 16000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3462" y="35552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07D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南宁绩效系统</a:t>
              </a:r>
              <a:endParaRPr lang="zh-CN" sz="112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90712" y="3555206"/>
              <a:ext cx="31750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移植魔改 — 集成到智慧工地平台内为公司级</a:t>
              </a:r>
              <a:endParaRPr lang="zh-CN" sz="1125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3212" y="355520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方向：移植代码→魔改适配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000500"/>
              <a:ext cx="10668000" cy="476250"/>
            </a:xfrm>
            <a:prstGeom prst="roundRect">
              <a:avLst>
                <a:gd name="adj" fmla="val 16000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3462" y="417433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07D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云工场</a:t>
              </a:r>
              <a:endParaRPr lang="zh-CN" sz="112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0712" y="4174331"/>
              <a:ext cx="3183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55A6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API对接（3季度后） — 图纸/文控→版本推送</a:t>
              </a:r>
              <a:endParaRPr lang="zh-CN" sz="1125" dirty="0">
                <a:solidFill>
                  <a:srgbClr val="455A6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53212" y="4174331"/>
              <a:ext cx="1762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方向：云工场→智慧工地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619625"/>
              <a:ext cx="10668000" cy="476250"/>
            </a:xfrm>
            <a:prstGeom prst="roundRect">
              <a:avLst>
                <a:gd name="adj" fmla="val 16000"/>
              </a:avLst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3462" y="47934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07D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风控平台</a:t>
              </a:r>
              <a:endParaRPr lang="zh-CN" sz="1125" b="1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90712" y="4793456"/>
              <a:ext cx="23535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7474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暂不对接 — 各模块内置预警能力</a:t>
              </a:r>
              <a:endParaRPr lang="zh-CN" sz="1125" dirty="0">
                <a:solidFill>
                  <a:srgbClr val="37474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3212" y="47934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B8D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风控平台独立运行</a:t>
              </a:r>
              <a:endPara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26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0" grpId="0"/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1771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附录C · 调研覆盖范围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524000"/>
            <a:ext cx="10668000" cy="381000"/>
          </a:xfrm>
          <a:prstGeom prst="roundRect">
            <a:avLst>
              <a:gd name="adj" fmla="val 15000"/>
            </a:avLst>
          </a:prstGeom>
          <a:solidFill>
            <a:srgbClr val="F5F7F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84323" y="1651635"/>
            <a:ext cx="70233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本次调研实现核心条线与现场角色的全覆盖，确保建设需求与痛点识别具备集团代表性</a:t>
            </a:r>
            <a:endParaRPr lang="zh-CN" sz="12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033462" y="2164556"/>
            <a:ext cx="9338905" cy="1943100"/>
            <a:chOff x="1033462" y="2164556"/>
            <a:chExt cx="9338905" cy="1943100"/>
          </a:xfrm>
        </p:grpSpPr>
        <p:sp>
          <p:nvSpPr>
            <p:cNvPr id="8" name="TextBox 8"/>
            <p:cNvSpPr txBox="1"/>
            <p:nvPr/>
          </p:nvSpPr>
          <p:spPr>
            <a:xfrm>
              <a:off x="1033462" y="21645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核心业务条线</a:t>
              </a:r>
              <a:endPara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43212" y="2164556"/>
              <a:ext cx="69130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设计生产部门 · 营销（事业部） · 施工管理 · 采购管理 · 费控管理 · 综合行政管理 · 数创中心</a:t>
              </a:r>
              <a:endParaRPr lang="zh-CN" sz="11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25931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组织架构覆盖</a:t>
              </a:r>
              <a:endPara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43212" y="2593181"/>
              <a:ext cx="7266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海诚总部 · 上海本部 · 北京公司 · 长沙公司 · 广州公司 · 南宁公司 · 成都公司 · 中轻建设等子公司</a:t>
              </a:r>
              <a:endParaRPr lang="zh-CN" sz="11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0218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现场关键角色</a:t>
              </a:r>
              <a:endPara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43212" y="3021806"/>
              <a:ext cx="53849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子公司负责人 · 项目经理 · 现场文秘 · 专业总监 · 商务经理 · IT研发团队</a:t>
              </a:r>
              <a:endParaRPr lang="zh-CN" sz="11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345043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典型代表项目</a:t>
              </a:r>
              <a:endPara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3212" y="3450431"/>
              <a:ext cx="75291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湛江中纸立体仓项目 · 浙江恒翔项目 · 斯里兰卡Galoya项目 · 新兴县循环经济环保项目 · 植护元创项目</a:t>
              </a:r>
              <a:endParaRPr lang="zh-CN" sz="11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3879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A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访谈进度</a:t>
              </a:r>
              <a:endParaRPr lang="zh-CN" sz="1125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43212" y="3879056"/>
              <a:ext cx="55246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959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18/43（截至5/14），覆盖总部、本部、北京、长沙、广州、南宁及项目现场</a:t>
              </a:r>
              <a:endParaRPr lang="zh-CN" sz="1125" dirty="0">
                <a:solidFill>
                  <a:srgbClr val="5959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27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8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0000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 · 原型演示视频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333500" y="1476375"/>
            <a:ext cx="9525000" cy="438150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619750" y="3238500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0" y="857250"/>
                </a:lnTo>
                <a:lnTo>
                  <a:pt x="666750" y="42862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72125" y="3143250"/>
            <a:ext cx="1047750" cy="1047750"/>
          </a:xfrm>
          <a:prstGeom prst="ellipse">
            <a:avLst/>
          </a:prstGeom>
          <a:noFill/>
          <a:ln w="23812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189434" y="61083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 — 拍照即归档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44174" y="6431756"/>
            <a:ext cx="3503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现场拍照 → OCR识别 → 自动归档分类，一气呵成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28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12" name="Video 01-拍照即归档.mp4"/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link="rId4"/>
          <a:stretch>
            <a:fillRect/>
          </a:stretch>
        </p:blipFill>
        <p:spPr>
          <a:xfrm>
            <a:off x="1333500" y="1476375"/>
            <a:ext cx="9525000" cy="438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0000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 · 原型演示视频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333500" y="1476375"/>
            <a:ext cx="9525000" cy="438150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619750" y="3238500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0" y="857250"/>
                </a:lnTo>
                <a:lnTo>
                  <a:pt x="666750" y="42862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72125" y="3143250"/>
            <a:ext cx="1047750" cy="1047750"/>
          </a:xfrm>
          <a:prstGeom prst="ellipse">
            <a:avLst/>
          </a:prstGeom>
          <a:noFill/>
          <a:ln w="23812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157805" y="6108382"/>
            <a:ext cx="18763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 — 开口即查询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08480" y="6431756"/>
            <a:ext cx="31750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语音提问 → AI理解意图 → 秒级返回项目知识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29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12" name="Video 02-开口即查询.mp4"/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link="rId4"/>
          <a:stretch>
            <a:fillRect/>
          </a:stretch>
        </p:blipFill>
        <p:spPr>
          <a:xfrm>
            <a:off x="1333500" y="1476375"/>
            <a:ext cx="9525000" cy="438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0000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 · 原型演示视频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333500" y="1476375"/>
            <a:ext cx="9525000" cy="438150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619750" y="3238500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0" y="857250"/>
                </a:lnTo>
                <a:lnTo>
                  <a:pt x="666750" y="42862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72125" y="3143250"/>
            <a:ext cx="1047750" cy="1047750"/>
          </a:xfrm>
          <a:prstGeom prst="ellipse">
            <a:avLst/>
          </a:prstGeom>
          <a:noFill/>
          <a:ln w="23812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031290" y="6108382"/>
            <a:ext cx="21294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 — 风险自动预警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79868" y="6431756"/>
            <a:ext cx="38322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进度偏差、签证异常、物料延期 — 系统主动推送预警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30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12" name="Video 03-风险自动预警.mp4"/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link="rId4"/>
          <a:stretch>
            <a:fillRect/>
          </a:stretch>
        </p:blipFill>
        <p:spPr>
          <a:xfrm>
            <a:off x="1333500" y="1476375"/>
            <a:ext cx="9525000" cy="438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0000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 · 原型演示视频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333500" y="1476375"/>
            <a:ext cx="9525000" cy="438150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619750" y="3238500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0" y="857250"/>
                </a:lnTo>
                <a:lnTo>
                  <a:pt x="666750" y="42862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72125" y="3143250"/>
            <a:ext cx="1047750" cy="1047750"/>
          </a:xfrm>
          <a:prstGeom prst="ellipse">
            <a:avLst/>
          </a:prstGeom>
          <a:noFill/>
          <a:ln w="23812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157805" y="6108382"/>
            <a:ext cx="18763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 — 电脑端归档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697432" y="6431756"/>
            <a:ext cx="27971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Web端批量上传、分类、关联项目文档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276052" y="6546056"/>
            <a:ext cx="168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31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12" name="Video 04-电脑端归档.mp4"/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link="rId4"/>
          <a:stretch>
            <a:fillRect/>
          </a:stretch>
        </p:blipFill>
        <p:spPr>
          <a:xfrm>
            <a:off x="1333500" y="1476375"/>
            <a:ext cx="9525000" cy="438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0000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 · 原型演示视频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333500" y="1476375"/>
            <a:ext cx="9525000" cy="438150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619750" y="3238500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0" y="857250"/>
                </a:lnTo>
                <a:lnTo>
                  <a:pt x="666750" y="42862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72125" y="3143250"/>
            <a:ext cx="1047750" cy="1047750"/>
          </a:xfrm>
          <a:prstGeom prst="ellipse">
            <a:avLst/>
          </a:prstGeom>
          <a:noFill/>
          <a:ln w="23812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157805" y="6108382"/>
            <a:ext cx="18763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 — 手机端查询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20803" y="6431756"/>
            <a:ext cx="31503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移动端随时随地查询合同、进度、物料状态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32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12" name="Video 05-手机端查询.mp4"/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link="rId4"/>
          <a:stretch>
            <a:fillRect/>
          </a:stretch>
        </p:blipFill>
        <p:spPr>
          <a:xfrm>
            <a:off x="1333500" y="1476375"/>
            <a:ext cx="9525000" cy="438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0000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 · 原型演示视频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333500" y="1476375"/>
            <a:ext cx="9525000" cy="438150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619750" y="3238500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0" y="857250"/>
                </a:lnTo>
                <a:lnTo>
                  <a:pt x="666750" y="42862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72125" y="3143250"/>
            <a:ext cx="1047750" cy="1047750"/>
          </a:xfrm>
          <a:prstGeom prst="ellipse">
            <a:avLst/>
          </a:prstGeom>
          <a:noFill/>
          <a:ln w="23812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157805" y="6108382"/>
            <a:ext cx="18763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 — 数据流关系</a:t>
            </a:r>
            <a:endParaRPr lang="zh-CN" sz="165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685109" y="643175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各模块数据如何流转、打通、形成闭环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33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12" name="Video 06-数据流关系.mp4"/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link="rId4"/>
          <a:stretch>
            <a:fillRect/>
          </a:stretch>
        </p:blipFill>
        <p:spPr>
          <a:xfrm>
            <a:off x="1333500" y="1476375"/>
            <a:ext cx="9525000" cy="438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63" y="190500"/>
            <a:ext cx="1892073" cy="3143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5330" y="725805"/>
            <a:ext cx="31771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附录D · 原型在线体验</a:t>
            </a:r>
            <a:endParaRPr lang="zh-CN" sz="2100" b="1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524000"/>
            <a:ext cx="5143500" cy="466725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9525">
            <a:solidFill>
              <a:srgbClr val="E5E8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524000"/>
            <a:ext cx="5143500" cy="495300"/>
          </a:xfrm>
          <a:prstGeom prst="roundRect">
            <a:avLst>
              <a:gd name="adj" fmla="val 26923"/>
            </a:avLst>
          </a:prstGeom>
          <a:solidFill>
            <a:srgbClr val="1A3A7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866900"/>
            <a:ext cx="5143500" cy="152400"/>
          </a:xfrm>
          <a:prstGeom prst="rect">
            <a:avLst/>
          </a:prstGeom>
          <a:solidFill>
            <a:srgbClr val="1A3A7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41866" y="1685925"/>
            <a:ext cx="13837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📱 移动端原型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286000"/>
            <a:ext cx="2476500" cy="2476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186309" y="4958239"/>
            <a:ext cx="22948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手机扫码 → 体验移动端原型</a:t>
            </a:r>
            <a:endParaRPr lang="zh-CN" sz="1275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1238250" y="5286375"/>
            <a:ext cx="4191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683377" y="5411152"/>
            <a:ext cx="3300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3A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http://main.smart-site-pages.pages.dev/</a:t>
            </a:r>
            <a:endParaRPr lang="zh-CN" sz="1050" dirty="0">
              <a:solidFill>
                <a:srgbClr val="1A3A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2462" y="5879306"/>
            <a:ext cx="34625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进度 · 质量 · 安全 · 文档 · 采购 · 合同 · 费控</a:t>
            </a:r>
            <a:endParaRPr lang="zh-CN" sz="11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286500" y="1524000"/>
            <a:ext cx="5143500" cy="466725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9525">
            <a:solidFill>
              <a:srgbClr val="E5E8EB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524000"/>
            <a:ext cx="5143500" cy="495300"/>
          </a:xfrm>
          <a:prstGeom prst="roundRect">
            <a:avLst>
              <a:gd name="adj" fmla="val 2692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286500" y="1866900"/>
            <a:ext cx="5143500" cy="152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06621" y="1685925"/>
            <a:ext cx="1303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🖥️ PC端看板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2476500" cy="2476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7910989" y="4958239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07D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扫码或电脑浏览器打开</a:t>
            </a:r>
            <a:endParaRPr lang="zh-CN" sz="1275" dirty="0">
              <a:solidFill>
                <a:srgbClr val="607D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6762750" y="5286375"/>
            <a:ext cx="4191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99247" y="541115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https://smart-site-h5.pages.dev/</a:t>
            </a:r>
            <a:endParaRPr lang="zh-CN" sz="10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50051" y="5879306"/>
            <a:ext cx="2616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H5全功能版本，PC/手机浏览器通用</a:t>
            </a:r>
            <a:endParaRPr lang="zh-CN" sz="11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234976" y="6546056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7B8D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34</a:t>
            </a:r>
            <a:endParaRPr lang="zh-CN" sz="1125" dirty="0">
              <a:solidFill>
                <a:srgbClr val="7B8D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6921</Words>
  <Application>WPS 演示</Application>
  <PresentationFormat>On-screen Show (4:3)</PresentationFormat>
  <Paragraphs>1230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张熙</cp:lastModifiedBy>
  <cp:revision>2</cp:revision>
  <dcterms:created xsi:type="dcterms:W3CDTF">2013-01-27T09:14:00Z</dcterms:created>
  <dcterms:modified xsi:type="dcterms:W3CDTF">2026-05-29T09:22:26Z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7D9FDC57212842FE944E5A4D38CE30A3_13</vt:lpwstr>
  </property>
  <property fmtid="{D5CDD505-2E9C-101B-9397-08002B2CF9AE}" pid="3" name="KSOProductBuildVer">
    <vt:lpwstr>2052-12.1.0.24657</vt:lpwstr>
  </property>
</Properties>
</file>